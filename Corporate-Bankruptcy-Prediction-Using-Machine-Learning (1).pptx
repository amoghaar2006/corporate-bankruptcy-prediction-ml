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6899" y="863600"/>
            <a:ext cx="8217534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7324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7324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7324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7324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BFA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899" y="863600"/>
            <a:ext cx="9932670" cy="911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7324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33899" y="2090737"/>
            <a:ext cx="7086600" cy="1793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8400" y="2844800"/>
            <a:ext cx="3034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90" dirty="0">
                <a:solidFill>
                  <a:srgbClr val="4E5862"/>
                </a:solidFill>
                <a:latin typeface="Tahoma"/>
                <a:cs typeface="Tahoma"/>
              </a:rPr>
              <a:t>UE24CS352A</a:t>
            </a:r>
            <a:r>
              <a:rPr sz="1200" b="1" spc="1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4E5862"/>
                </a:solidFill>
                <a:latin typeface="Tahoma"/>
                <a:cs typeface="Tahoma"/>
              </a:rPr>
              <a:t>·</a:t>
            </a:r>
            <a:r>
              <a:rPr sz="1200" b="1" spc="1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200" b="1" spc="50" dirty="0">
                <a:solidFill>
                  <a:srgbClr val="4E5862"/>
                </a:solidFill>
                <a:latin typeface="Tahoma"/>
                <a:cs typeface="Tahoma"/>
              </a:rPr>
              <a:t>MACHINE</a:t>
            </a:r>
            <a:r>
              <a:rPr sz="1200" b="1" spc="1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4E5862"/>
                </a:solidFill>
                <a:latin typeface="Tahoma"/>
                <a:cs typeface="Tahoma"/>
              </a:rPr>
              <a:t>LEARNING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8400" y="3098831"/>
            <a:ext cx="6207125" cy="203136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ct val="93100"/>
              </a:lnSpc>
              <a:spcBef>
                <a:spcPts val="480"/>
              </a:spcBef>
            </a:pPr>
            <a:r>
              <a:rPr sz="4600" b="1" spc="-110" dirty="0">
                <a:solidFill>
                  <a:srgbClr val="4E5862"/>
                </a:solidFill>
                <a:latin typeface="Tahoma"/>
                <a:cs typeface="Tahoma"/>
              </a:rPr>
              <a:t>Corporate</a:t>
            </a:r>
            <a:r>
              <a:rPr sz="4600" b="1" spc="-16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4600" b="1" spc="-114" dirty="0">
                <a:solidFill>
                  <a:srgbClr val="4E5862"/>
                </a:solidFill>
                <a:latin typeface="Tahoma"/>
                <a:cs typeface="Tahoma"/>
              </a:rPr>
              <a:t>Bankruptcy </a:t>
            </a:r>
            <a:r>
              <a:rPr sz="4600" b="1" spc="-140" dirty="0">
                <a:solidFill>
                  <a:srgbClr val="4E5862"/>
                </a:solidFill>
                <a:latin typeface="Tahoma"/>
                <a:cs typeface="Tahoma"/>
              </a:rPr>
              <a:t>Prediction</a:t>
            </a:r>
            <a:r>
              <a:rPr sz="4600" b="1" spc="-1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4600" b="1" spc="-10" dirty="0">
                <a:solidFill>
                  <a:srgbClr val="4E5862"/>
                </a:solidFill>
                <a:latin typeface="Tahoma"/>
                <a:cs typeface="Tahoma"/>
              </a:rPr>
              <a:t>Using </a:t>
            </a:r>
            <a:r>
              <a:rPr sz="4600" b="1" spc="-60" dirty="0">
                <a:solidFill>
                  <a:srgbClr val="4E5862"/>
                </a:solidFill>
                <a:latin typeface="Tahoma"/>
                <a:cs typeface="Tahoma"/>
              </a:rPr>
              <a:t>Machine</a:t>
            </a:r>
            <a:r>
              <a:rPr sz="4600" b="1" spc="-229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4600" b="1" spc="-10" dirty="0">
                <a:solidFill>
                  <a:srgbClr val="4E5862"/>
                </a:solidFill>
                <a:latin typeface="Tahoma"/>
                <a:cs typeface="Tahoma"/>
              </a:rPr>
              <a:t>Learning</a:t>
            </a:r>
            <a:endParaRPr sz="4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4374" y="5495924"/>
            <a:ext cx="10763250" cy="9525"/>
          </a:xfrm>
          <a:custGeom>
            <a:avLst/>
            <a:gdLst/>
            <a:ahLst/>
            <a:cxnLst/>
            <a:rect l="l" t="t" r="r" b="b"/>
            <a:pathLst>
              <a:path w="10763250" h="9525">
                <a:moveTo>
                  <a:pt x="10759801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4762"/>
                </a:lnTo>
                <a:lnTo>
                  <a:pt x="0" y="3446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10759801" y="0"/>
                </a:lnTo>
                <a:lnTo>
                  <a:pt x="10760923" y="465"/>
                </a:lnTo>
                <a:lnTo>
                  <a:pt x="10762784" y="2324"/>
                </a:lnTo>
                <a:lnTo>
                  <a:pt x="10763249" y="3446"/>
                </a:lnTo>
                <a:lnTo>
                  <a:pt x="10763249" y="6077"/>
                </a:lnTo>
                <a:lnTo>
                  <a:pt x="10762784" y="7200"/>
                </a:lnTo>
                <a:lnTo>
                  <a:pt x="10760923" y="9059"/>
                </a:lnTo>
                <a:lnTo>
                  <a:pt x="10759801" y="9524"/>
                </a:lnTo>
                <a:close/>
              </a:path>
            </a:pathLst>
          </a:custGeom>
          <a:solidFill>
            <a:srgbClr val="4E58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8400" y="5876988"/>
            <a:ext cx="48685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0" dirty="0">
                <a:solidFill>
                  <a:srgbClr val="4E5862"/>
                </a:solidFill>
                <a:latin typeface="Tahoma"/>
                <a:cs typeface="Tahoma"/>
              </a:rPr>
              <a:t>Amoghaar</a:t>
            </a:r>
            <a:r>
              <a:rPr sz="2000" spc="-5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E5862"/>
                </a:solidFill>
                <a:latin typeface="Tahoma"/>
                <a:cs typeface="Tahoma"/>
              </a:rPr>
              <a:t>R</a:t>
            </a:r>
            <a:r>
              <a:rPr sz="20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4E5862"/>
                </a:solidFill>
                <a:latin typeface="Tahoma"/>
                <a:cs typeface="Tahoma"/>
              </a:rPr>
              <a:t>and</a:t>
            </a:r>
            <a:r>
              <a:rPr sz="2000" spc="-5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4E5862"/>
                </a:solidFill>
                <a:latin typeface="Tahoma"/>
                <a:cs typeface="Tahoma"/>
              </a:rPr>
              <a:t>Ramya</a:t>
            </a:r>
            <a:r>
              <a:rPr sz="20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-150" dirty="0">
                <a:solidFill>
                  <a:srgbClr val="4E5862"/>
                </a:solidFill>
                <a:latin typeface="Tahoma"/>
                <a:cs typeface="Tahoma"/>
              </a:rPr>
              <a:t>·</a:t>
            </a:r>
            <a:r>
              <a:rPr sz="20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4E5862"/>
                </a:solidFill>
                <a:latin typeface="Tahoma"/>
                <a:cs typeface="Tahoma"/>
              </a:rPr>
              <a:t>PES</a:t>
            </a:r>
            <a:r>
              <a:rPr sz="2000" spc="-5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4E5862"/>
                </a:solidFill>
                <a:latin typeface="Tahoma"/>
                <a:cs typeface="Tahoma"/>
              </a:rPr>
              <a:t>University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899" y="596900"/>
            <a:ext cx="841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85" dirty="0">
                <a:solidFill>
                  <a:srgbClr val="3D5C73"/>
                </a:solidFill>
                <a:latin typeface="Tahoma"/>
                <a:cs typeface="Tahoma"/>
              </a:rPr>
              <a:t>CONTEXT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395"/>
              </a:spcBef>
            </a:pPr>
            <a:r>
              <a:rPr spc="-95" dirty="0"/>
              <a:t>Bankruptcy</a:t>
            </a:r>
            <a:r>
              <a:rPr spc="-125" dirty="0"/>
              <a:t> </a:t>
            </a:r>
            <a:r>
              <a:rPr spc="-80" dirty="0"/>
              <a:t>prediction</a:t>
            </a:r>
            <a:r>
              <a:rPr spc="-120" dirty="0"/>
              <a:t> </a:t>
            </a:r>
            <a:r>
              <a:rPr dirty="0"/>
              <a:t>is</a:t>
            </a:r>
            <a:r>
              <a:rPr spc="-120" dirty="0"/>
              <a:t> </a:t>
            </a:r>
            <a:r>
              <a:rPr spc="-90" dirty="0"/>
              <a:t>a</a:t>
            </a:r>
            <a:r>
              <a:rPr spc="-125" dirty="0"/>
              <a:t> </a:t>
            </a:r>
            <a:r>
              <a:rPr spc="-70" dirty="0"/>
              <a:t>high-stakes</a:t>
            </a:r>
            <a:r>
              <a:rPr spc="-120" dirty="0"/>
              <a:t> </a:t>
            </a:r>
            <a:r>
              <a:rPr spc="-30" dirty="0"/>
              <a:t>classification </a:t>
            </a:r>
            <a:r>
              <a:rPr spc="-10" dirty="0"/>
              <a:t>problem</a:t>
            </a:r>
          </a:p>
        </p:txBody>
      </p:sp>
      <p:sp>
        <p:nvSpPr>
          <p:cNvPr id="4" name="object 4"/>
          <p:cNvSpPr/>
          <p:nvPr/>
        </p:nvSpPr>
        <p:spPr>
          <a:xfrm>
            <a:off x="609599" y="2143124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10969351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4762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10969351" y="0"/>
                </a:lnTo>
                <a:lnTo>
                  <a:pt x="10970473" y="464"/>
                </a:lnTo>
                <a:lnTo>
                  <a:pt x="10972332" y="2324"/>
                </a:lnTo>
                <a:lnTo>
                  <a:pt x="10972798" y="3447"/>
                </a:lnTo>
                <a:lnTo>
                  <a:pt x="10972798" y="6077"/>
                </a:lnTo>
                <a:lnTo>
                  <a:pt x="10972332" y="7200"/>
                </a:lnTo>
                <a:lnTo>
                  <a:pt x="10970473" y="9060"/>
                </a:lnTo>
                <a:lnTo>
                  <a:pt x="10969351" y="9524"/>
                </a:lnTo>
                <a:close/>
              </a:path>
            </a:pathLst>
          </a:custGeom>
          <a:solidFill>
            <a:srgbClr val="173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6899" y="2438387"/>
            <a:ext cx="7322184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099"/>
              </a:lnSpc>
              <a:spcBef>
                <a:spcPts val="100"/>
              </a:spcBef>
            </a:pPr>
            <a:r>
              <a:rPr sz="2000" spc="145" dirty="0">
                <a:solidFill>
                  <a:srgbClr val="4E5862"/>
                </a:solidFill>
                <a:latin typeface="Tahoma"/>
                <a:cs typeface="Tahoma"/>
              </a:rPr>
              <a:t>Use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4E5862"/>
                </a:solidFill>
                <a:latin typeface="Tahoma"/>
                <a:cs typeface="Tahoma"/>
              </a:rPr>
              <a:t>financial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4E5862"/>
                </a:solidFill>
                <a:latin typeface="Tahoma"/>
                <a:cs typeface="Tahoma"/>
              </a:rPr>
              <a:t>indicators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E5862"/>
                </a:solidFill>
                <a:latin typeface="Tahoma"/>
                <a:cs typeface="Tahoma"/>
              </a:rPr>
              <a:t>to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4E5862"/>
                </a:solidFill>
                <a:latin typeface="Tahoma"/>
                <a:cs typeface="Tahoma"/>
              </a:rPr>
              <a:t>identify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100" dirty="0">
                <a:solidFill>
                  <a:srgbClr val="4E5862"/>
                </a:solidFill>
                <a:latin typeface="Tahoma"/>
                <a:cs typeface="Tahoma"/>
              </a:rPr>
              <a:t>companies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E5862"/>
                </a:solidFill>
                <a:latin typeface="Tahoma"/>
                <a:cs typeface="Tahoma"/>
              </a:rPr>
              <a:t>likely</a:t>
            </a:r>
            <a:r>
              <a:rPr sz="2000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4E5862"/>
                </a:solidFill>
                <a:latin typeface="Tahoma"/>
                <a:cs typeface="Tahoma"/>
              </a:rPr>
              <a:t>to </a:t>
            </a:r>
            <a:r>
              <a:rPr sz="2000" spc="114" dirty="0">
                <a:solidFill>
                  <a:srgbClr val="4E5862"/>
                </a:solidFill>
                <a:latin typeface="Tahoma"/>
                <a:cs typeface="Tahoma"/>
              </a:rPr>
              <a:t>become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4E5862"/>
                </a:solidFill>
                <a:latin typeface="Tahoma"/>
                <a:cs typeface="Tahoma"/>
              </a:rPr>
              <a:t>bankrupt</a:t>
            </a:r>
            <a:r>
              <a:rPr sz="2000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4E5862"/>
                </a:solidFill>
                <a:latin typeface="Tahoma"/>
                <a:cs typeface="Tahoma"/>
              </a:rPr>
              <a:t>early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4E5862"/>
                </a:solidFill>
                <a:latin typeface="Tahoma"/>
                <a:cs typeface="Tahoma"/>
              </a:rPr>
              <a:t>enough</a:t>
            </a:r>
            <a:r>
              <a:rPr sz="2000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E5862"/>
                </a:solidFill>
                <a:latin typeface="Tahoma"/>
                <a:cs typeface="Tahoma"/>
              </a:rPr>
              <a:t>to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4E5862"/>
                </a:solidFill>
                <a:latin typeface="Tahoma"/>
                <a:cs typeface="Tahoma"/>
              </a:rPr>
              <a:t>support</a:t>
            </a:r>
            <a:r>
              <a:rPr sz="2000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4E5862"/>
                </a:solidFill>
                <a:latin typeface="Tahoma"/>
                <a:cs typeface="Tahoma"/>
              </a:rPr>
              <a:t>informed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4E5862"/>
                </a:solidFill>
                <a:latin typeface="Tahoma"/>
                <a:cs typeface="Tahoma"/>
              </a:rPr>
              <a:t>financial </a:t>
            </a:r>
            <a:r>
              <a:rPr sz="2000" spc="105" dirty="0">
                <a:solidFill>
                  <a:srgbClr val="4E5862"/>
                </a:solidFill>
                <a:latin typeface="Tahoma"/>
                <a:cs typeface="Tahoma"/>
              </a:rPr>
              <a:t>decision-</a:t>
            </a:r>
            <a:r>
              <a:rPr sz="2000" spc="40" dirty="0">
                <a:solidFill>
                  <a:srgbClr val="4E5862"/>
                </a:solidFill>
                <a:latin typeface="Tahoma"/>
                <a:cs typeface="Tahoma"/>
              </a:rPr>
              <a:t>making.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4362" y="4062412"/>
            <a:ext cx="5324475" cy="2181225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5"/>
              </a:spcBef>
            </a:pPr>
            <a:endParaRPr sz="1200">
              <a:latin typeface="Times New Roman"/>
              <a:cs typeface="Times New Roman"/>
            </a:endParaRPr>
          </a:p>
          <a:p>
            <a:pPr marL="360045">
              <a:lnSpc>
                <a:spcPct val="100000"/>
              </a:lnSpc>
            </a:pPr>
            <a:r>
              <a:rPr sz="1200" b="1" spc="65" dirty="0">
                <a:solidFill>
                  <a:srgbClr val="4E5862"/>
                </a:solidFill>
                <a:latin typeface="Tahoma"/>
                <a:cs typeface="Tahoma"/>
              </a:rPr>
              <a:t>OBJECTIVE</a:t>
            </a:r>
            <a:endParaRPr sz="1200">
              <a:latin typeface="Tahoma"/>
              <a:cs typeface="Tahoma"/>
            </a:endParaRPr>
          </a:p>
          <a:p>
            <a:pPr marL="360045">
              <a:lnSpc>
                <a:spcPct val="100000"/>
              </a:lnSpc>
              <a:spcBef>
                <a:spcPts val="860"/>
              </a:spcBef>
            </a:pPr>
            <a:r>
              <a:rPr sz="2200" b="1" spc="-30" dirty="0">
                <a:solidFill>
                  <a:srgbClr val="4E5862"/>
                </a:solidFill>
                <a:latin typeface="Tahoma"/>
                <a:cs typeface="Tahoma"/>
              </a:rPr>
              <a:t>Compare</a:t>
            </a:r>
            <a:r>
              <a:rPr sz="2200" b="1" spc="-12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200" b="1" spc="-80" dirty="0">
                <a:solidFill>
                  <a:srgbClr val="4E5862"/>
                </a:solidFill>
                <a:latin typeface="Tahoma"/>
                <a:cs typeface="Tahoma"/>
              </a:rPr>
              <a:t>multiple</a:t>
            </a:r>
            <a:r>
              <a:rPr sz="2200" b="1" spc="-9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4E5862"/>
                </a:solidFill>
                <a:latin typeface="Tahoma"/>
                <a:cs typeface="Tahoma"/>
              </a:rPr>
              <a:t>classifiers</a:t>
            </a:r>
            <a:endParaRPr sz="2200">
              <a:latin typeface="Tahoma"/>
              <a:cs typeface="Tahoma"/>
            </a:endParaRPr>
          </a:p>
          <a:p>
            <a:pPr marL="360045" marR="502284">
              <a:lnSpc>
                <a:spcPct val="128499"/>
              </a:lnSpc>
              <a:spcBef>
                <a:spcPts val="1345"/>
              </a:spcBef>
            </a:pPr>
            <a:r>
              <a:rPr sz="1800" spc="90" dirty="0">
                <a:solidFill>
                  <a:srgbClr val="4E5862"/>
                </a:solidFill>
                <a:latin typeface="Tahoma"/>
                <a:cs typeface="Tahoma"/>
              </a:rPr>
              <a:t>Compare</a:t>
            </a:r>
            <a:r>
              <a:rPr sz="1800" spc="-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4E5862"/>
                </a:solidFill>
                <a:latin typeface="Tahoma"/>
                <a:cs typeface="Tahoma"/>
              </a:rPr>
              <a:t>multiple</a:t>
            </a:r>
            <a:r>
              <a:rPr sz="1800" spc="-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85" dirty="0">
                <a:solidFill>
                  <a:srgbClr val="4E5862"/>
                </a:solidFill>
                <a:latin typeface="Tahoma"/>
                <a:cs typeface="Tahoma"/>
              </a:rPr>
              <a:t>classifiers</a:t>
            </a:r>
            <a:r>
              <a:rPr sz="1800" spc="-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75" dirty="0">
                <a:solidFill>
                  <a:srgbClr val="4E5862"/>
                </a:solidFill>
                <a:latin typeface="Tahoma"/>
                <a:cs typeface="Tahoma"/>
              </a:rPr>
              <a:t>on</a:t>
            </a:r>
            <a:r>
              <a:rPr sz="1800" spc="-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5862"/>
                </a:solidFill>
                <a:latin typeface="Tahoma"/>
                <a:cs typeface="Tahoma"/>
              </a:rPr>
              <a:t>the</a:t>
            </a:r>
            <a:r>
              <a:rPr sz="1800" spc="-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60" dirty="0">
                <a:solidFill>
                  <a:srgbClr val="4E5862"/>
                </a:solidFill>
                <a:latin typeface="Tahoma"/>
                <a:cs typeface="Tahoma"/>
              </a:rPr>
              <a:t>same highly</a:t>
            </a:r>
            <a:r>
              <a:rPr sz="1800" spc="-2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75" dirty="0">
                <a:solidFill>
                  <a:srgbClr val="4E5862"/>
                </a:solidFill>
                <a:latin typeface="Tahoma"/>
                <a:cs typeface="Tahoma"/>
              </a:rPr>
              <a:t>imbalanced</a:t>
            </a:r>
            <a:r>
              <a:rPr sz="1800" spc="-2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E5862"/>
                </a:solidFill>
                <a:latin typeface="Tahoma"/>
                <a:cs typeface="Tahoma"/>
              </a:rPr>
              <a:t>dataset.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48399" y="4057649"/>
            <a:ext cx="5334000" cy="2190750"/>
            <a:chOff x="6248399" y="4057649"/>
            <a:chExt cx="5334000" cy="2190750"/>
          </a:xfrm>
        </p:grpSpPr>
        <p:sp>
          <p:nvSpPr>
            <p:cNvPr id="8" name="object 8"/>
            <p:cNvSpPr/>
            <p:nvPr/>
          </p:nvSpPr>
          <p:spPr>
            <a:xfrm>
              <a:off x="6248399" y="4057649"/>
              <a:ext cx="5334000" cy="19050"/>
            </a:xfrm>
            <a:custGeom>
              <a:avLst/>
              <a:gdLst/>
              <a:ahLst/>
              <a:cxnLst/>
              <a:rect l="l" t="t" r="r" b="b"/>
              <a:pathLst>
                <a:path w="5334000" h="19050">
                  <a:moveTo>
                    <a:pt x="53339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5333999" y="0"/>
                  </a:lnTo>
                  <a:lnTo>
                    <a:pt x="5333999" y="19049"/>
                  </a:lnTo>
                  <a:close/>
                </a:path>
              </a:pathLst>
            </a:custGeom>
            <a:solidFill>
              <a:srgbClr val="173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48387" y="4057649"/>
              <a:ext cx="5334000" cy="2190750"/>
            </a:xfrm>
            <a:custGeom>
              <a:avLst/>
              <a:gdLst/>
              <a:ahLst/>
              <a:cxnLst/>
              <a:rect l="l" t="t" r="r" b="b"/>
              <a:pathLst>
                <a:path w="5334000" h="2190750">
                  <a:moveTo>
                    <a:pt x="5334000" y="0"/>
                  </a:moveTo>
                  <a:lnTo>
                    <a:pt x="5324475" y="19050"/>
                  </a:lnTo>
                  <a:lnTo>
                    <a:pt x="5324475" y="2181225"/>
                  </a:lnTo>
                  <a:lnTo>
                    <a:pt x="9525" y="2181225"/>
                  </a:lnTo>
                  <a:lnTo>
                    <a:pt x="9525" y="19050"/>
                  </a:lnTo>
                  <a:lnTo>
                    <a:pt x="0" y="0"/>
                  </a:lnTo>
                  <a:lnTo>
                    <a:pt x="0" y="2181225"/>
                  </a:lnTo>
                  <a:lnTo>
                    <a:pt x="0" y="2190750"/>
                  </a:lnTo>
                  <a:lnTo>
                    <a:pt x="9525" y="2190750"/>
                  </a:lnTo>
                  <a:lnTo>
                    <a:pt x="5324475" y="2190750"/>
                  </a:lnTo>
                  <a:lnTo>
                    <a:pt x="5334000" y="2190750"/>
                  </a:lnTo>
                  <a:lnTo>
                    <a:pt x="5334000" y="2181225"/>
                  </a:lnTo>
                  <a:lnTo>
                    <a:pt x="5334000" y="0"/>
                  </a:lnTo>
                  <a:close/>
                </a:path>
              </a:pathLst>
            </a:custGeom>
            <a:solidFill>
              <a:srgbClr val="D8D5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257924" y="4309201"/>
            <a:ext cx="5314950" cy="158813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570"/>
              </a:spcBef>
            </a:pPr>
            <a:r>
              <a:rPr sz="1200" b="1" spc="60" dirty="0">
                <a:solidFill>
                  <a:srgbClr val="4E5862"/>
                </a:solidFill>
                <a:latin typeface="Tahoma"/>
                <a:cs typeface="Tahoma"/>
              </a:rPr>
              <a:t>CORE</a:t>
            </a:r>
            <a:r>
              <a:rPr sz="1200" b="1" spc="1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200" b="1" spc="40" dirty="0">
                <a:solidFill>
                  <a:srgbClr val="4E5862"/>
                </a:solidFill>
                <a:latin typeface="Tahoma"/>
                <a:cs typeface="Tahoma"/>
              </a:rPr>
              <a:t>QUESTION</a:t>
            </a:r>
            <a:endParaRPr sz="1200">
              <a:latin typeface="Tahoma"/>
              <a:cs typeface="Tahoma"/>
            </a:endParaRPr>
          </a:p>
          <a:p>
            <a:pPr marL="354965">
              <a:lnSpc>
                <a:spcPct val="100000"/>
              </a:lnSpc>
              <a:spcBef>
                <a:spcPts val="860"/>
              </a:spcBef>
            </a:pPr>
            <a:r>
              <a:rPr sz="2200" b="1" dirty="0">
                <a:solidFill>
                  <a:srgbClr val="297E7B"/>
                </a:solidFill>
                <a:latin typeface="Tahoma"/>
                <a:cs typeface="Tahoma"/>
              </a:rPr>
              <a:t>Accuracy</a:t>
            </a:r>
            <a:r>
              <a:rPr sz="2200" b="1" spc="-45" dirty="0">
                <a:solidFill>
                  <a:srgbClr val="297E7B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297E7B"/>
                </a:solidFill>
                <a:latin typeface="Tahoma"/>
                <a:cs typeface="Tahoma"/>
              </a:rPr>
              <a:t>versus</a:t>
            </a:r>
            <a:r>
              <a:rPr sz="2200" b="1" spc="-40" dirty="0">
                <a:solidFill>
                  <a:srgbClr val="297E7B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297E7B"/>
                </a:solidFill>
                <a:latin typeface="Tahoma"/>
                <a:cs typeface="Tahoma"/>
              </a:rPr>
              <a:t>detection</a:t>
            </a:r>
            <a:endParaRPr sz="2200">
              <a:latin typeface="Tahoma"/>
              <a:cs typeface="Tahoma"/>
            </a:endParaRPr>
          </a:p>
          <a:p>
            <a:pPr marL="354965" marR="577215">
              <a:lnSpc>
                <a:spcPct val="128499"/>
              </a:lnSpc>
              <a:spcBef>
                <a:spcPts val="1340"/>
              </a:spcBef>
            </a:pPr>
            <a:r>
              <a:rPr sz="1800" spc="120" dirty="0">
                <a:solidFill>
                  <a:srgbClr val="4E5862"/>
                </a:solidFill>
                <a:latin typeface="Tahoma"/>
                <a:cs typeface="Tahoma"/>
              </a:rPr>
              <a:t>Can</a:t>
            </a:r>
            <a:r>
              <a:rPr sz="1800" spc="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4E5862"/>
                </a:solidFill>
                <a:latin typeface="Tahoma"/>
                <a:cs typeface="Tahoma"/>
              </a:rPr>
              <a:t>strong</a:t>
            </a:r>
            <a:r>
              <a:rPr sz="1800" spc="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5862"/>
                </a:solidFill>
                <a:latin typeface="Tahoma"/>
                <a:cs typeface="Tahoma"/>
              </a:rPr>
              <a:t>overall</a:t>
            </a:r>
            <a:r>
              <a:rPr sz="1800" spc="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105" dirty="0">
                <a:solidFill>
                  <a:srgbClr val="4E5862"/>
                </a:solidFill>
                <a:latin typeface="Tahoma"/>
                <a:cs typeface="Tahoma"/>
              </a:rPr>
              <a:t>accuracy</a:t>
            </a:r>
            <a:r>
              <a:rPr sz="1800" spc="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80" dirty="0">
                <a:solidFill>
                  <a:srgbClr val="4E5862"/>
                </a:solidFill>
                <a:latin typeface="Tahoma"/>
                <a:cs typeface="Tahoma"/>
              </a:rPr>
              <a:t>coexist</a:t>
            </a:r>
            <a:r>
              <a:rPr sz="1800" spc="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4E5862"/>
                </a:solidFill>
                <a:latin typeface="Tahoma"/>
                <a:cs typeface="Tahoma"/>
              </a:rPr>
              <a:t>with </a:t>
            </a:r>
            <a:r>
              <a:rPr sz="1800" spc="85" dirty="0">
                <a:solidFill>
                  <a:srgbClr val="4E5862"/>
                </a:solidFill>
                <a:latin typeface="Tahoma"/>
                <a:cs typeface="Tahoma"/>
              </a:rPr>
              <a:t>weak</a:t>
            </a:r>
            <a:r>
              <a:rPr sz="1800" spc="-5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4E5862"/>
                </a:solidFill>
                <a:latin typeface="Tahoma"/>
                <a:cs typeface="Tahoma"/>
              </a:rPr>
              <a:t>detection</a:t>
            </a:r>
            <a:r>
              <a:rPr sz="1800" spc="-5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90" dirty="0">
                <a:solidFill>
                  <a:srgbClr val="4E5862"/>
                </a:solidFill>
                <a:latin typeface="Tahoma"/>
                <a:cs typeface="Tahoma"/>
              </a:rPr>
              <a:t>of</a:t>
            </a:r>
            <a:r>
              <a:rPr sz="18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60" dirty="0">
                <a:solidFill>
                  <a:srgbClr val="4E5862"/>
                </a:solidFill>
                <a:latin typeface="Tahoma"/>
                <a:cs typeface="Tahoma"/>
              </a:rPr>
              <a:t>bankrupt</a:t>
            </a:r>
            <a:r>
              <a:rPr sz="1800" spc="-5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75" dirty="0">
                <a:solidFill>
                  <a:srgbClr val="4E5862"/>
                </a:solidFill>
                <a:latin typeface="Tahoma"/>
                <a:cs typeface="Tahoma"/>
              </a:rPr>
              <a:t>companies?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47647" y="6452851"/>
            <a:ext cx="336550" cy="1949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0</a:t>
            </a:r>
            <a:r>
              <a:rPr sz="1050" spc="-155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 </a:t>
            </a:r>
            <a:fld id="{81D60167-4931-47E6-BA6A-407CBD079E47}" type="slidenum">
              <a:rPr sz="1050" spc="-6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2</a:t>
            </a:fld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899" y="596900"/>
            <a:ext cx="7893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0" dirty="0">
                <a:solidFill>
                  <a:srgbClr val="3D5C73"/>
                </a:solidFill>
                <a:latin typeface="Tahoma"/>
                <a:cs typeface="Tahoma"/>
              </a:rPr>
              <a:t>DATASET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35" dirty="0"/>
              <a:t> </a:t>
            </a:r>
            <a:r>
              <a:rPr spc="-95" dirty="0"/>
              <a:t>dataset</a:t>
            </a:r>
            <a:r>
              <a:rPr spc="-130" dirty="0"/>
              <a:t> </a:t>
            </a:r>
            <a:r>
              <a:rPr dirty="0"/>
              <a:t>is</a:t>
            </a:r>
            <a:r>
              <a:rPr spc="-130" dirty="0"/>
              <a:t> </a:t>
            </a:r>
            <a:r>
              <a:rPr spc="-90" dirty="0"/>
              <a:t>large,</a:t>
            </a:r>
            <a:r>
              <a:rPr spc="-190" dirty="0"/>
              <a:t> </a:t>
            </a:r>
            <a:r>
              <a:rPr spc="-75" dirty="0"/>
              <a:t>financial,</a:t>
            </a:r>
            <a:r>
              <a:rPr spc="-195" dirty="0"/>
              <a:t> </a:t>
            </a:r>
            <a:r>
              <a:rPr spc="-85" dirty="0"/>
              <a:t>and</a:t>
            </a:r>
            <a:r>
              <a:rPr spc="-130" dirty="0"/>
              <a:t> </a:t>
            </a:r>
            <a:r>
              <a:rPr spc="-50" dirty="0"/>
              <a:t>sharply</a:t>
            </a:r>
            <a:r>
              <a:rPr spc="-130" dirty="0"/>
              <a:t> </a:t>
            </a:r>
            <a:r>
              <a:rPr spc="-35" dirty="0"/>
              <a:t>imbalanced</a:t>
            </a:r>
          </a:p>
        </p:txBody>
      </p:sp>
      <p:sp>
        <p:nvSpPr>
          <p:cNvPr id="4" name="object 4"/>
          <p:cNvSpPr/>
          <p:nvPr/>
        </p:nvSpPr>
        <p:spPr>
          <a:xfrm>
            <a:off x="609599" y="1666874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10969351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4762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10969351" y="0"/>
                </a:lnTo>
                <a:lnTo>
                  <a:pt x="10970473" y="464"/>
                </a:lnTo>
                <a:lnTo>
                  <a:pt x="10972332" y="2324"/>
                </a:lnTo>
                <a:lnTo>
                  <a:pt x="10972798" y="3447"/>
                </a:lnTo>
                <a:lnTo>
                  <a:pt x="10972798" y="6077"/>
                </a:lnTo>
                <a:lnTo>
                  <a:pt x="10972332" y="7200"/>
                </a:lnTo>
                <a:lnTo>
                  <a:pt x="10970473" y="9060"/>
                </a:lnTo>
                <a:lnTo>
                  <a:pt x="10969351" y="9524"/>
                </a:lnTo>
                <a:close/>
              </a:path>
            </a:pathLst>
          </a:custGeom>
          <a:solidFill>
            <a:srgbClr val="173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6899" y="1958975"/>
            <a:ext cx="3779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D5C73"/>
                </a:solidFill>
                <a:latin typeface="Tahoma"/>
                <a:cs typeface="Tahoma"/>
              </a:rPr>
              <a:t>POLISH</a:t>
            </a:r>
            <a:r>
              <a:rPr sz="1200" b="1" spc="210" dirty="0">
                <a:solidFill>
                  <a:srgbClr val="3D5C73"/>
                </a:solidFill>
                <a:latin typeface="Tahoma"/>
                <a:cs typeface="Tahoma"/>
              </a:rPr>
              <a:t> </a:t>
            </a:r>
            <a:r>
              <a:rPr sz="1200" b="1" spc="55" dirty="0">
                <a:solidFill>
                  <a:srgbClr val="3D5C73"/>
                </a:solidFill>
                <a:latin typeface="Tahoma"/>
                <a:cs typeface="Tahoma"/>
              </a:rPr>
              <a:t>COMPANIES</a:t>
            </a:r>
            <a:r>
              <a:rPr sz="1200" b="1" spc="210" dirty="0">
                <a:solidFill>
                  <a:srgbClr val="3D5C73"/>
                </a:solidFill>
                <a:latin typeface="Tahoma"/>
                <a:cs typeface="Tahoma"/>
              </a:rPr>
              <a:t> </a:t>
            </a:r>
            <a:r>
              <a:rPr sz="1200" b="1" spc="85" dirty="0">
                <a:solidFill>
                  <a:srgbClr val="3D5C73"/>
                </a:solidFill>
                <a:latin typeface="Tahoma"/>
                <a:cs typeface="Tahoma"/>
              </a:rPr>
              <a:t>BANKRUPTCY</a:t>
            </a:r>
            <a:r>
              <a:rPr sz="1200" b="1" spc="215" dirty="0">
                <a:solidFill>
                  <a:srgbClr val="3D5C73"/>
                </a:solidFill>
                <a:latin typeface="Tahoma"/>
                <a:cs typeface="Tahoma"/>
              </a:rPr>
              <a:t> </a:t>
            </a:r>
            <a:r>
              <a:rPr sz="1200" b="1" spc="50" dirty="0">
                <a:solidFill>
                  <a:srgbClr val="3D5C73"/>
                </a:solidFill>
                <a:latin typeface="Tahoma"/>
                <a:cs typeface="Tahoma"/>
              </a:rPr>
              <a:t>DATASET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11899" y="2133663"/>
            <a:ext cx="26282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00" dirty="0">
                <a:solidFill>
                  <a:srgbClr val="67737C"/>
                </a:solidFill>
                <a:latin typeface="Tahoma"/>
                <a:cs typeface="Tahoma"/>
              </a:rPr>
              <a:t>Class</a:t>
            </a:r>
            <a:r>
              <a:rPr sz="1400" spc="-15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67737C"/>
                </a:solidFill>
                <a:latin typeface="Tahoma"/>
                <a:cs typeface="Tahoma"/>
              </a:rPr>
              <a:t>distribution</a:t>
            </a:r>
            <a:r>
              <a:rPr sz="1400" spc="-1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-100" dirty="0">
                <a:solidFill>
                  <a:srgbClr val="67737C"/>
                </a:solidFill>
                <a:latin typeface="Tahoma"/>
                <a:cs typeface="Tahoma"/>
              </a:rPr>
              <a:t>·</a:t>
            </a:r>
            <a:r>
              <a:rPr sz="1400" spc="-15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75" dirty="0">
                <a:solidFill>
                  <a:srgbClr val="67737C"/>
                </a:solidFill>
                <a:latin typeface="Tahoma"/>
                <a:cs typeface="Tahoma"/>
              </a:rPr>
              <a:t>Companies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6899" y="2255034"/>
            <a:ext cx="3664585" cy="112585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000" spc="80" dirty="0">
                <a:solidFill>
                  <a:srgbClr val="4E5862"/>
                </a:solidFill>
                <a:latin typeface="Tahoma"/>
                <a:cs typeface="Tahoma"/>
              </a:rPr>
              <a:t>Third-</a:t>
            </a:r>
            <a:r>
              <a:rPr sz="2000" spc="70" dirty="0">
                <a:solidFill>
                  <a:srgbClr val="4E5862"/>
                </a:solidFill>
                <a:latin typeface="Tahoma"/>
                <a:cs typeface="Tahoma"/>
              </a:rPr>
              <a:t>year</a:t>
            </a:r>
            <a:r>
              <a:rPr sz="20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4E5862"/>
                </a:solidFill>
                <a:latin typeface="Tahoma"/>
                <a:cs typeface="Tahoma"/>
              </a:rPr>
              <a:t>forecasting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4E5862"/>
                </a:solidFill>
                <a:latin typeface="Tahoma"/>
                <a:cs typeface="Tahoma"/>
              </a:rPr>
              <a:t>subset.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3600" b="1" spc="-175" dirty="0">
                <a:solidFill>
                  <a:srgbClr val="297E7B"/>
                </a:solidFill>
                <a:latin typeface="Tahoma"/>
                <a:cs typeface="Tahoma"/>
              </a:rPr>
              <a:t>10,503</a:t>
            </a:r>
            <a:r>
              <a:rPr sz="3600" b="1" spc="-210" dirty="0">
                <a:solidFill>
                  <a:srgbClr val="297E7B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17324A"/>
                </a:solidFill>
                <a:latin typeface="Tahoma"/>
                <a:cs typeface="Tahoma"/>
              </a:rPr>
              <a:t>companies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11899" y="2487413"/>
            <a:ext cx="559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E5862"/>
                </a:solidFill>
                <a:latin typeface="Verdana"/>
                <a:cs typeface="Verdana"/>
              </a:rPr>
              <a:t>Class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16810" y="3222317"/>
            <a:ext cx="1391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4E5862"/>
                </a:solidFill>
                <a:latin typeface="Verdana"/>
                <a:cs typeface="Verdana"/>
              </a:rPr>
              <a:t>Non-</a:t>
            </a:r>
            <a:r>
              <a:rPr sz="1600" spc="-45" dirty="0">
                <a:solidFill>
                  <a:srgbClr val="4E5862"/>
                </a:solidFill>
                <a:latin typeface="Verdana"/>
                <a:cs typeface="Verdana"/>
              </a:rPr>
              <a:t>bankrupt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911107" y="3037816"/>
            <a:ext cx="2760345" cy="502284"/>
            <a:chOff x="7911107" y="3037816"/>
            <a:chExt cx="2760345" cy="502284"/>
          </a:xfrm>
        </p:grpSpPr>
        <p:sp>
          <p:nvSpPr>
            <p:cNvPr id="17" name="object 17"/>
            <p:cNvSpPr/>
            <p:nvPr/>
          </p:nvSpPr>
          <p:spPr>
            <a:xfrm>
              <a:off x="7911107" y="3037816"/>
              <a:ext cx="2760345" cy="502284"/>
            </a:xfrm>
            <a:custGeom>
              <a:avLst/>
              <a:gdLst/>
              <a:ahLst/>
              <a:cxnLst/>
              <a:rect l="l" t="t" r="r" b="b"/>
              <a:pathLst>
                <a:path w="2760345" h="502285">
                  <a:moveTo>
                    <a:pt x="2761571" y="502348"/>
                  </a:moveTo>
                  <a:lnTo>
                    <a:pt x="0" y="502348"/>
                  </a:lnTo>
                  <a:lnTo>
                    <a:pt x="0" y="0"/>
                  </a:lnTo>
                  <a:lnTo>
                    <a:pt x="2761571" y="0"/>
                  </a:lnTo>
                  <a:lnTo>
                    <a:pt x="2761571" y="502348"/>
                  </a:lnTo>
                  <a:close/>
                </a:path>
              </a:pathLst>
            </a:custGeom>
            <a:solidFill>
              <a:srgbClr val="206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3170" y="3182239"/>
              <a:ext cx="253841" cy="215765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7720726" y="328883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228" y="0"/>
                </a:lnTo>
              </a:path>
            </a:pathLst>
          </a:custGeom>
          <a:ln w="12692">
            <a:solidFill>
              <a:srgbClr val="D8D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9599" y="3576637"/>
            <a:ext cx="5257800" cy="9525"/>
          </a:xfrm>
          <a:custGeom>
            <a:avLst/>
            <a:gdLst/>
            <a:ahLst/>
            <a:cxnLst/>
            <a:rect l="l" t="t" r="r" b="b"/>
            <a:pathLst>
              <a:path w="5257800" h="9525">
                <a:moveTo>
                  <a:pt x="5257799" y="9524"/>
                </a:moveTo>
                <a:lnTo>
                  <a:pt x="0" y="9524"/>
                </a:lnTo>
                <a:lnTo>
                  <a:pt x="0" y="0"/>
                </a:lnTo>
                <a:lnTo>
                  <a:pt x="5257799" y="0"/>
                </a:lnTo>
                <a:lnTo>
                  <a:pt x="5257799" y="9524"/>
                </a:lnTo>
                <a:close/>
              </a:path>
            </a:pathLst>
          </a:custGeom>
          <a:solidFill>
            <a:srgbClr val="D8D5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6899" y="3740150"/>
            <a:ext cx="23977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297E7B"/>
                </a:solidFill>
                <a:latin typeface="Tahoma"/>
                <a:cs typeface="Tahoma"/>
              </a:rPr>
              <a:t>64</a:t>
            </a:r>
            <a:r>
              <a:rPr sz="3600" b="1" spc="-150" dirty="0">
                <a:solidFill>
                  <a:srgbClr val="297E7B"/>
                </a:solidFill>
                <a:latin typeface="Tahoma"/>
                <a:cs typeface="Tahoma"/>
              </a:rPr>
              <a:t> </a:t>
            </a:r>
            <a:r>
              <a:rPr sz="1600" b="1" spc="-60" dirty="0">
                <a:solidFill>
                  <a:srgbClr val="17324A"/>
                </a:solidFill>
                <a:latin typeface="Tahoma"/>
                <a:cs typeface="Tahoma"/>
              </a:rPr>
              <a:t>financial</a:t>
            </a:r>
            <a:r>
              <a:rPr sz="1600" b="1" spc="-65" dirty="0">
                <a:solidFill>
                  <a:srgbClr val="17324A"/>
                </a:solidFill>
                <a:latin typeface="Tahoma"/>
                <a:cs typeface="Tahoma"/>
              </a:rPr>
              <a:t> </a:t>
            </a:r>
            <a:r>
              <a:rPr sz="1600" b="1" spc="-35" dirty="0">
                <a:solidFill>
                  <a:srgbClr val="17324A"/>
                </a:solidFill>
                <a:latin typeface="Tahoma"/>
                <a:cs typeface="Tahoma"/>
              </a:rPr>
              <a:t>features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03181" y="4337949"/>
            <a:ext cx="904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5" dirty="0">
                <a:solidFill>
                  <a:srgbClr val="4E5862"/>
                </a:solidFill>
                <a:latin typeface="Verdana"/>
                <a:cs typeface="Verdana"/>
              </a:rPr>
              <a:t>Bankrupt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098378" y="4297872"/>
            <a:ext cx="292100" cy="215900"/>
          </a:xfrm>
          <a:custGeom>
            <a:avLst/>
            <a:gdLst/>
            <a:ahLst/>
            <a:cxnLst/>
            <a:rect l="l" t="t" r="r" b="b"/>
            <a:pathLst>
              <a:path w="292100" h="215900">
                <a:moveTo>
                  <a:pt x="253324" y="215899"/>
                </a:moveTo>
                <a:lnTo>
                  <a:pt x="38775" y="215899"/>
                </a:lnTo>
                <a:lnTo>
                  <a:pt x="33073" y="214765"/>
                </a:lnTo>
                <a:lnTo>
                  <a:pt x="1134" y="182826"/>
                </a:lnTo>
                <a:lnTo>
                  <a:pt x="0" y="177124"/>
                </a:lnTo>
                <a:lnTo>
                  <a:pt x="0" y="171195"/>
                </a:lnTo>
                <a:lnTo>
                  <a:pt x="0" y="38775"/>
                </a:lnTo>
                <a:lnTo>
                  <a:pt x="22119" y="5671"/>
                </a:lnTo>
                <a:lnTo>
                  <a:pt x="38775" y="0"/>
                </a:lnTo>
                <a:lnTo>
                  <a:pt x="253324" y="0"/>
                </a:lnTo>
                <a:lnTo>
                  <a:pt x="286428" y="22119"/>
                </a:lnTo>
                <a:lnTo>
                  <a:pt x="292099" y="38775"/>
                </a:lnTo>
                <a:lnTo>
                  <a:pt x="292099" y="177124"/>
                </a:lnTo>
                <a:lnTo>
                  <a:pt x="269980" y="210228"/>
                </a:lnTo>
                <a:lnTo>
                  <a:pt x="259026" y="214765"/>
                </a:lnTo>
                <a:lnTo>
                  <a:pt x="253324" y="215899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20726" y="4404465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228" y="0"/>
                </a:lnTo>
              </a:path>
            </a:pathLst>
          </a:custGeom>
          <a:ln w="12692">
            <a:solidFill>
              <a:srgbClr val="D8D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9599" y="4519612"/>
            <a:ext cx="5257800" cy="9525"/>
          </a:xfrm>
          <a:custGeom>
            <a:avLst/>
            <a:gdLst/>
            <a:ahLst/>
            <a:cxnLst/>
            <a:rect l="l" t="t" r="r" b="b"/>
            <a:pathLst>
              <a:path w="5257800" h="9525">
                <a:moveTo>
                  <a:pt x="5257799" y="9524"/>
                </a:moveTo>
                <a:lnTo>
                  <a:pt x="0" y="9524"/>
                </a:lnTo>
                <a:lnTo>
                  <a:pt x="0" y="0"/>
                </a:lnTo>
                <a:lnTo>
                  <a:pt x="5257799" y="0"/>
                </a:lnTo>
                <a:lnTo>
                  <a:pt x="5257799" y="9524"/>
                </a:lnTo>
                <a:close/>
              </a:path>
            </a:pathLst>
          </a:custGeom>
          <a:solidFill>
            <a:srgbClr val="D8D5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6899" y="4683125"/>
            <a:ext cx="4312920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17324A"/>
                </a:solidFill>
                <a:latin typeface="Tahoma"/>
                <a:cs typeface="Tahoma"/>
              </a:rPr>
              <a:t>2</a:t>
            </a:r>
            <a:r>
              <a:rPr sz="3600" b="1" spc="-195" dirty="0">
                <a:solidFill>
                  <a:srgbClr val="17324A"/>
                </a:solidFill>
                <a:latin typeface="Tahoma"/>
                <a:cs typeface="Tahoma"/>
              </a:rPr>
              <a:t> </a:t>
            </a:r>
            <a:r>
              <a:rPr sz="1600" b="1" spc="-85" dirty="0">
                <a:solidFill>
                  <a:srgbClr val="17324A"/>
                </a:solidFill>
                <a:latin typeface="Tahoma"/>
                <a:cs typeface="Tahoma"/>
              </a:rPr>
              <a:t>target </a:t>
            </a:r>
            <a:r>
              <a:rPr sz="1600" b="1" spc="-10" dirty="0">
                <a:solidFill>
                  <a:srgbClr val="17324A"/>
                </a:solidFill>
                <a:latin typeface="Tahoma"/>
                <a:cs typeface="Tahoma"/>
              </a:rPr>
              <a:t>classes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400" dirty="0">
                <a:solidFill>
                  <a:srgbClr val="67737C"/>
                </a:solidFill>
                <a:latin typeface="Tahoma"/>
                <a:cs typeface="Tahoma"/>
              </a:rPr>
              <a:t>10,008</a:t>
            </a:r>
            <a:r>
              <a:rPr sz="1400" spc="3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80" dirty="0">
                <a:solidFill>
                  <a:srgbClr val="67737C"/>
                </a:solidFill>
                <a:latin typeface="Tahoma"/>
                <a:cs typeface="Tahoma"/>
              </a:rPr>
              <a:t>non-</a:t>
            </a:r>
            <a:r>
              <a:rPr sz="1400" spc="55" dirty="0">
                <a:solidFill>
                  <a:srgbClr val="67737C"/>
                </a:solidFill>
                <a:latin typeface="Tahoma"/>
                <a:cs typeface="Tahoma"/>
              </a:rPr>
              <a:t>bankrupt</a:t>
            </a:r>
            <a:r>
              <a:rPr sz="1400" spc="35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100" dirty="0">
                <a:solidFill>
                  <a:srgbClr val="67737C"/>
                </a:solidFill>
                <a:latin typeface="Tahoma"/>
                <a:cs typeface="Tahoma"/>
              </a:rPr>
              <a:t>vs</a:t>
            </a:r>
            <a:r>
              <a:rPr sz="1400" spc="35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105" dirty="0">
                <a:solidFill>
                  <a:srgbClr val="297E7B"/>
                </a:solidFill>
                <a:latin typeface="Tahoma"/>
                <a:cs typeface="Tahoma"/>
              </a:rPr>
              <a:t>495</a:t>
            </a:r>
            <a:r>
              <a:rPr sz="1400" spc="35" dirty="0">
                <a:solidFill>
                  <a:srgbClr val="297E7B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97E7B"/>
                </a:solidFill>
                <a:latin typeface="Tahoma"/>
                <a:cs typeface="Tahoma"/>
              </a:rPr>
              <a:t>bankrupt</a:t>
            </a:r>
            <a:r>
              <a:rPr sz="1400" spc="35" dirty="0">
                <a:solidFill>
                  <a:srgbClr val="297E7B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67737C"/>
                </a:solidFill>
                <a:latin typeface="Tahoma"/>
                <a:cs typeface="Tahoma"/>
              </a:rPr>
              <a:t>companies.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32923" y="4872920"/>
            <a:ext cx="3013075" cy="6604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509905" algn="l"/>
                <a:tab pos="1057275" algn="l"/>
                <a:tab pos="1611630" algn="l"/>
                <a:tab pos="2163445" algn="l"/>
                <a:tab pos="2670810" algn="l"/>
              </a:tabLst>
            </a:pPr>
            <a:r>
              <a:rPr sz="1600" spc="-50" dirty="0">
                <a:solidFill>
                  <a:srgbClr val="4E5862"/>
                </a:solidFill>
                <a:latin typeface="Verdana"/>
                <a:cs typeface="Verdana"/>
              </a:rPr>
              <a:t>0</a:t>
            </a:r>
            <a:r>
              <a:rPr sz="1600" dirty="0">
                <a:solidFill>
                  <a:srgbClr val="4E5862"/>
                </a:solidFill>
                <a:latin typeface="Verdana"/>
                <a:cs typeface="Verdana"/>
              </a:rPr>
              <a:t>	</a:t>
            </a:r>
            <a:r>
              <a:rPr sz="1600" spc="-25" dirty="0">
                <a:solidFill>
                  <a:srgbClr val="4E5862"/>
                </a:solidFill>
                <a:latin typeface="Verdana"/>
                <a:cs typeface="Verdana"/>
              </a:rPr>
              <a:t>2k</a:t>
            </a:r>
            <a:r>
              <a:rPr sz="1600" dirty="0">
                <a:solidFill>
                  <a:srgbClr val="4E5862"/>
                </a:solidFill>
                <a:latin typeface="Verdana"/>
                <a:cs typeface="Verdana"/>
              </a:rPr>
              <a:t>	</a:t>
            </a:r>
            <a:r>
              <a:rPr sz="1600" spc="-25" dirty="0">
                <a:solidFill>
                  <a:srgbClr val="4E5862"/>
                </a:solidFill>
                <a:latin typeface="Verdana"/>
                <a:cs typeface="Verdana"/>
              </a:rPr>
              <a:t>4k</a:t>
            </a:r>
            <a:r>
              <a:rPr sz="1600" dirty="0">
                <a:solidFill>
                  <a:srgbClr val="4E5862"/>
                </a:solidFill>
                <a:latin typeface="Verdana"/>
                <a:cs typeface="Verdana"/>
              </a:rPr>
              <a:t>	</a:t>
            </a:r>
            <a:r>
              <a:rPr sz="1600" spc="-25" dirty="0">
                <a:solidFill>
                  <a:srgbClr val="4E5862"/>
                </a:solidFill>
                <a:latin typeface="Verdana"/>
                <a:cs typeface="Verdana"/>
              </a:rPr>
              <a:t>6k</a:t>
            </a:r>
            <a:r>
              <a:rPr sz="1600" dirty="0">
                <a:solidFill>
                  <a:srgbClr val="4E5862"/>
                </a:solidFill>
                <a:latin typeface="Verdana"/>
                <a:cs typeface="Verdana"/>
              </a:rPr>
              <a:t>	</a:t>
            </a:r>
            <a:r>
              <a:rPr sz="1600" spc="-25" dirty="0">
                <a:solidFill>
                  <a:srgbClr val="4E5862"/>
                </a:solidFill>
                <a:latin typeface="Verdana"/>
                <a:cs typeface="Verdana"/>
              </a:rPr>
              <a:t>8k</a:t>
            </a:r>
            <a:r>
              <a:rPr sz="1600" dirty="0">
                <a:solidFill>
                  <a:srgbClr val="4E5862"/>
                </a:solidFill>
                <a:latin typeface="Verdana"/>
                <a:cs typeface="Verdana"/>
              </a:rPr>
              <a:t>	</a:t>
            </a:r>
            <a:r>
              <a:rPr sz="1600" spc="-120" dirty="0">
                <a:solidFill>
                  <a:srgbClr val="4E5862"/>
                </a:solidFill>
                <a:latin typeface="Verdana"/>
                <a:cs typeface="Verdana"/>
              </a:rPr>
              <a:t>10k</a:t>
            </a:r>
            <a:endParaRPr sz="1600">
              <a:latin typeface="Verdana"/>
              <a:cs typeface="Verdana"/>
            </a:endParaRPr>
          </a:p>
          <a:p>
            <a:pPr marL="1205230">
              <a:lnSpc>
                <a:spcPct val="100000"/>
              </a:lnSpc>
              <a:spcBef>
                <a:spcPts val="580"/>
              </a:spcBef>
            </a:pPr>
            <a:r>
              <a:rPr sz="1600" spc="-10" dirty="0">
                <a:solidFill>
                  <a:srgbClr val="4E5862"/>
                </a:solidFill>
                <a:latin typeface="Verdana"/>
                <a:cs typeface="Verdana"/>
              </a:rPr>
              <a:t>Companies</a:t>
            </a:r>
            <a:endParaRPr sz="1600">
              <a:latin typeface="Verdana"/>
              <a:cs typeface="Verdana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904761" y="2724671"/>
          <a:ext cx="3339462" cy="2230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1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6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  <a:lnT w="12700">
                      <a:solidFill>
                        <a:srgbClr val="D8D5C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  <a:lnT w="12700">
                      <a:solidFill>
                        <a:srgbClr val="D8D5C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  <a:lnT w="12700">
                      <a:solidFill>
                        <a:srgbClr val="D8D5C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  <a:lnT w="12700">
                      <a:solidFill>
                        <a:srgbClr val="D8D5C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  <a:lnT w="12700">
                      <a:solidFill>
                        <a:srgbClr val="D8D5CD"/>
                      </a:solidFill>
                      <a:prstDash val="solid"/>
                    </a:lnT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  <a:lnT w="12700">
                      <a:solidFill>
                        <a:srgbClr val="D8D5CD"/>
                      </a:solidFill>
                      <a:prstDash val="solid"/>
                    </a:lnT>
                    <a:lnB w="12700">
                      <a:solidFill>
                        <a:srgbClr val="D8D5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R="7874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50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10k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  <a:lnT w="12700">
                      <a:solidFill>
                        <a:srgbClr val="D8D5CD"/>
                      </a:solidFill>
                      <a:prstDash val="solid"/>
                    </a:lnT>
                    <a:lnB w="12700">
                      <a:solidFill>
                        <a:srgbClr val="D8D5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24790">
                        <a:lnSpc>
                          <a:spcPct val="100000"/>
                        </a:lnSpc>
                      </a:pPr>
                      <a:r>
                        <a:rPr sz="850" spc="-25" dirty="0">
                          <a:latin typeface="Verdana"/>
                          <a:cs typeface="Verdana"/>
                        </a:rPr>
                        <a:t>495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  <a:lnB w="12700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  <a:lnB w="12700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  <a:lnB w="12700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  <a:lnB w="12700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  <a:lnB w="12700">
                      <a:solidFill>
                        <a:srgbClr val="D8D5CD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D8D5CD"/>
                      </a:solidFill>
                      <a:prstDash val="solid"/>
                    </a:lnL>
                    <a:lnR w="12700">
                      <a:solidFill>
                        <a:srgbClr val="D8D5CD"/>
                      </a:solidFill>
                      <a:prstDash val="solid"/>
                    </a:lnR>
                    <a:lnT w="12700">
                      <a:solidFill>
                        <a:srgbClr val="D8D5CD"/>
                      </a:solidFill>
                      <a:prstDash val="solid"/>
                    </a:lnT>
                    <a:lnB w="12700">
                      <a:solidFill>
                        <a:srgbClr val="D8D5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7911107" y="4153448"/>
            <a:ext cx="136525" cy="502284"/>
          </a:xfrm>
          <a:custGeom>
            <a:avLst/>
            <a:gdLst/>
            <a:ahLst/>
            <a:cxnLst/>
            <a:rect l="l" t="t" r="r" b="b"/>
            <a:pathLst>
              <a:path w="136525" h="502285">
                <a:moveTo>
                  <a:pt x="136588" y="502348"/>
                </a:moveTo>
                <a:lnTo>
                  <a:pt x="0" y="502348"/>
                </a:lnTo>
                <a:lnTo>
                  <a:pt x="0" y="0"/>
                </a:lnTo>
                <a:lnTo>
                  <a:pt x="136588" y="0"/>
                </a:lnTo>
                <a:lnTo>
                  <a:pt x="136588" y="502348"/>
                </a:lnTo>
                <a:close/>
              </a:path>
            </a:pathLst>
          </a:custGeom>
          <a:solidFill>
            <a:srgbClr val="38AB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347647" y="6452851"/>
            <a:ext cx="336550" cy="1949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dirty="0">
                <a:solidFill>
                  <a:srgbClr val="17324A"/>
                </a:solidFill>
                <a:latin typeface="Verdana"/>
                <a:cs typeface="Verdana"/>
                <a:hlinkClick r:id="rId3"/>
              </a:rPr>
              <a:t>0</a:t>
            </a:r>
            <a:r>
              <a:rPr sz="1050" spc="-155" dirty="0">
                <a:solidFill>
                  <a:srgbClr val="17324A"/>
                </a:solidFill>
                <a:latin typeface="Verdana"/>
                <a:cs typeface="Verdana"/>
                <a:hlinkClick r:id="rId3"/>
              </a:rPr>
              <a:t> </a:t>
            </a:r>
            <a:fld id="{81D60167-4931-47E6-BA6A-407CBD079E47}" type="slidenum">
              <a:rPr sz="1050" spc="-60" dirty="0">
                <a:solidFill>
                  <a:srgbClr val="17324A"/>
                </a:solidFill>
                <a:latin typeface="Verdana"/>
                <a:cs typeface="Verdana"/>
                <a:hlinkClick r:id="rId3"/>
              </a:rPr>
              <a:t>3</a:t>
            </a:fld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899" y="596900"/>
            <a:ext cx="1356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solidFill>
                  <a:srgbClr val="3D5C73"/>
                </a:solidFill>
                <a:latin typeface="Tahoma"/>
                <a:cs typeface="Tahoma"/>
              </a:rPr>
              <a:t>METHODOLOGY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Preprocessing</a:t>
            </a:r>
            <a:r>
              <a:rPr spc="-140" dirty="0"/>
              <a:t> </a:t>
            </a:r>
            <a:r>
              <a:rPr spc="-35" dirty="0"/>
              <a:t>keeps</a:t>
            </a:r>
            <a:r>
              <a:rPr spc="-135" dirty="0"/>
              <a:t> </a:t>
            </a:r>
            <a:r>
              <a:rPr spc="-120" dirty="0"/>
              <a:t>the</a:t>
            </a:r>
            <a:r>
              <a:rPr spc="-135" dirty="0"/>
              <a:t> </a:t>
            </a:r>
            <a:r>
              <a:rPr spc="-55" dirty="0"/>
              <a:t>comparison</a:t>
            </a:r>
            <a:r>
              <a:rPr spc="-135" dirty="0"/>
              <a:t> </a:t>
            </a:r>
            <a:r>
              <a:rPr spc="-30" dirty="0"/>
              <a:t>consistent</a:t>
            </a:r>
          </a:p>
        </p:txBody>
      </p:sp>
      <p:sp>
        <p:nvSpPr>
          <p:cNvPr id="4" name="object 4"/>
          <p:cNvSpPr/>
          <p:nvPr/>
        </p:nvSpPr>
        <p:spPr>
          <a:xfrm>
            <a:off x="609599" y="1714499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10969351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4762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10969351" y="0"/>
                </a:lnTo>
                <a:lnTo>
                  <a:pt x="10970473" y="464"/>
                </a:lnTo>
                <a:lnTo>
                  <a:pt x="10972332" y="2324"/>
                </a:lnTo>
                <a:lnTo>
                  <a:pt x="10972798" y="3447"/>
                </a:lnTo>
                <a:lnTo>
                  <a:pt x="10972798" y="6077"/>
                </a:lnTo>
                <a:lnTo>
                  <a:pt x="10972332" y="7200"/>
                </a:lnTo>
                <a:lnTo>
                  <a:pt x="10970473" y="9059"/>
                </a:lnTo>
                <a:lnTo>
                  <a:pt x="10969351" y="9524"/>
                </a:lnTo>
                <a:close/>
              </a:path>
            </a:pathLst>
          </a:custGeom>
          <a:solidFill>
            <a:srgbClr val="173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4362" y="2071687"/>
            <a:ext cx="2505075" cy="2171700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1460"/>
              </a:spcBef>
            </a:pPr>
            <a:r>
              <a:rPr sz="2400" b="1" spc="-25" dirty="0">
                <a:solidFill>
                  <a:srgbClr val="4E5862"/>
                </a:solidFill>
                <a:latin typeface="Tahoma"/>
                <a:cs typeface="Tahoma"/>
              </a:rPr>
              <a:t>01</a:t>
            </a:r>
            <a:endParaRPr sz="2400">
              <a:latin typeface="Tahoma"/>
              <a:cs typeface="Tahoma"/>
            </a:endParaRPr>
          </a:p>
          <a:p>
            <a:pPr marL="233045">
              <a:lnSpc>
                <a:spcPct val="100000"/>
              </a:lnSpc>
              <a:spcBef>
                <a:spcPts val="570"/>
              </a:spcBef>
            </a:pPr>
            <a:r>
              <a:rPr sz="1800" b="1" spc="-20" dirty="0">
                <a:solidFill>
                  <a:srgbClr val="4E5862"/>
                </a:solidFill>
                <a:latin typeface="Tahoma"/>
                <a:cs typeface="Tahoma"/>
              </a:rPr>
              <a:t>Load</a:t>
            </a:r>
            <a:endParaRPr sz="1800">
              <a:latin typeface="Tahoma"/>
              <a:cs typeface="Tahoma"/>
            </a:endParaRPr>
          </a:p>
          <a:p>
            <a:pPr marL="233045" marR="602615">
              <a:lnSpc>
                <a:spcPct val="129500"/>
              </a:lnSpc>
              <a:spcBef>
                <a:spcPts val="1345"/>
              </a:spcBef>
            </a:pPr>
            <a:r>
              <a:rPr sz="1400" spc="70" dirty="0">
                <a:solidFill>
                  <a:srgbClr val="4E5862"/>
                </a:solidFill>
                <a:latin typeface="Tahoma"/>
                <a:cs typeface="Tahoma"/>
              </a:rPr>
              <a:t>Load</a:t>
            </a:r>
            <a:r>
              <a:rPr sz="1400" spc="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the</a:t>
            </a:r>
            <a:r>
              <a:rPr sz="1400" spc="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75" dirty="0">
                <a:solidFill>
                  <a:srgbClr val="4E5862"/>
                </a:solidFill>
                <a:latin typeface="Tahoma"/>
                <a:cs typeface="Tahoma"/>
              </a:rPr>
              <a:t>ARFF/CSV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data</a:t>
            </a:r>
            <a:r>
              <a:rPr sz="1400" spc="8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into</a:t>
            </a:r>
            <a:r>
              <a:rPr sz="1400" spc="8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4E5862"/>
                </a:solidFill>
                <a:latin typeface="Tahoma"/>
                <a:cs typeface="Tahoma"/>
              </a:rPr>
              <a:t>Pandas.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3762" y="2071687"/>
            <a:ext cx="2505075" cy="2171700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1460"/>
              </a:spcBef>
            </a:pPr>
            <a:r>
              <a:rPr sz="2400" b="1" spc="-25" dirty="0">
                <a:solidFill>
                  <a:srgbClr val="4E5862"/>
                </a:solidFill>
                <a:latin typeface="Tahoma"/>
                <a:cs typeface="Tahoma"/>
              </a:rPr>
              <a:t>02</a:t>
            </a:r>
            <a:endParaRPr sz="2400">
              <a:latin typeface="Tahoma"/>
              <a:cs typeface="Tahoma"/>
            </a:endParaRPr>
          </a:p>
          <a:p>
            <a:pPr marL="233045">
              <a:lnSpc>
                <a:spcPct val="100000"/>
              </a:lnSpc>
              <a:spcBef>
                <a:spcPts val="570"/>
              </a:spcBef>
            </a:pPr>
            <a:r>
              <a:rPr sz="1800" b="1" spc="-10" dirty="0">
                <a:solidFill>
                  <a:srgbClr val="4E5862"/>
                </a:solidFill>
                <a:latin typeface="Tahoma"/>
                <a:cs typeface="Tahoma"/>
              </a:rPr>
              <a:t>Separate</a:t>
            </a:r>
            <a:endParaRPr sz="1800">
              <a:latin typeface="Tahoma"/>
              <a:cs typeface="Tahoma"/>
            </a:endParaRPr>
          </a:p>
          <a:p>
            <a:pPr marL="233045" marR="648970">
              <a:lnSpc>
                <a:spcPct val="127200"/>
              </a:lnSpc>
              <a:spcBef>
                <a:spcPts val="1385"/>
              </a:spcBef>
            </a:pPr>
            <a:r>
              <a:rPr sz="1400" spc="50" dirty="0">
                <a:solidFill>
                  <a:srgbClr val="4E5862"/>
                </a:solidFill>
                <a:latin typeface="Tahoma"/>
                <a:cs typeface="Tahoma"/>
              </a:rPr>
              <a:t>Separate</a:t>
            </a:r>
            <a:r>
              <a:rPr sz="1400" spc="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the</a:t>
            </a:r>
            <a:r>
              <a:rPr sz="1400" spc="2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E5862"/>
                </a:solidFill>
                <a:latin typeface="Tahoma"/>
                <a:cs typeface="Tahoma"/>
              </a:rPr>
              <a:t>target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from</a:t>
            </a:r>
            <a:r>
              <a:rPr sz="1400" spc="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114" dirty="0">
                <a:solidFill>
                  <a:srgbClr val="4E5862"/>
                </a:solidFill>
                <a:latin typeface="Tahoma"/>
                <a:cs typeface="Tahoma"/>
              </a:rPr>
              <a:t>64</a:t>
            </a:r>
            <a:r>
              <a:rPr sz="1400" spc="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E5862"/>
                </a:solidFill>
                <a:latin typeface="Tahoma"/>
                <a:cs typeface="Tahoma"/>
              </a:rPr>
              <a:t>financial features.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3162" y="2071687"/>
            <a:ext cx="2505075" cy="2171700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1460"/>
              </a:spcBef>
            </a:pPr>
            <a:r>
              <a:rPr sz="2400" b="1" spc="-25" dirty="0">
                <a:solidFill>
                  <a:srgbClr val="4E5862"/>
                </a:solidFill>
                <a:latin typeface="Tahoma"/>
                <a:cs typeface="Tahoma"/>
              </a:rPr>
              <a:t>03</a:t>
            </a:r>
            <a:endParaRPr sz="2400">
              <a:latin typeface="Tahoma"/>
              <a:cs typeface="Tahoma"/>
            </a:endParaRPr>
          </a:p>
          <a:p>
            <a:pPr marL="233045">
              <a:lnSpc>
                <a:spcPct val="100000"/>
              </a:lnSpc>
              <a:spcBef>
                <a:spcPts val="570"/>
              </a:spcBef>
            </a:pPr>
            <a:r>
              <a:rPr sz="1800" b="1" spc="-10" dirty="0">
                <a:solidFill>
                  <a:srgbClr val="4E5862"/>
                </a:solidFill>
                <a:latin typeface="Tahoma"/>
                <a:cs typeface="Tahoma"/>
              </a:rPr>
              <a:t>Impute</a:t>
            </a:r>
            <a:endParaRPr sz="1800">
              <a:latin typeface="Tahoma"/>
              <a:cs typeface="Tahoma"/>
            </a:endParaRPr>
          </a:p>
          <a:p>
            <a:pPr marL="233045" marR="287655">
              <a:lnSpc>
                <a:spcPct val="127200"/>
              </a:lnSpc>
              <a:spcBef>
                <a:spcPts val="1385"/>
              </a:spcBef>
            </a:pP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Fit</a:t>
            </a:r>
            <a:r>
              <a:rPr sz="1400" spc="9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4E5862"/>
                </a:solidFill>
                <a:latin typeface="Tahoma"/>
                <a:cs typeface="Tahoma"/>
              </a:rPr>
              <a:t>mean</a:t>
            </a:r>
            <a:r>
              <a:rPr sz="1400" spc="9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imputation</a:t>
            </a:r>
            <a:r>
              <a:rPr sz="1400" spc="9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30" dirty="0">
                <a:solidFill>
                  <a:srgbClr val="4E5862"/>
                </a:solidFill>
                <a:latin typeface="Tahoma"/>
                <a:cs typeface="Tahoma"/>
              </a:rPr>
              <a:t>on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training</a:t>
            </a:r>
            <a:r>
              <a:rPr sz="1400" spc="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data;</a:t>
            </a:r>
            <a:r>
              <a:rPr sz="1400" spc="3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4E5862"/>
                </a:solidFill>
                <a:latin typeface="Tahoma"/>
                <a:cs typeface="Tahoma"/>
              </a:rPr>
              <a:t>apply</a:t>
            </a:r>
            <a:r>
              <a:rPr sz="1400" spc="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it</a:t>
            </a:r>
            <a:r>
              <a:rPr sz="1400" spc="3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4E5862"/>
                </a:solidFill>
                <a:latin typeface="Tahoma"/>
                <a:cs typeface="Tahoma"/>
              </a:rPr>
              <a:t>to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test</a:t>
            </a:r>
            <a:r>
              <a:rPr sz="1400" spc="10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E5862"/>
                </a:solidFill>
                <a:latin typeface="Tahoma"/>
                <a:cs typeface="Tahoma"/>
              </a:rPr>
              <a:t>data.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72561" y="2071687"/>
            <a:ext cx="2505075" cy="2171700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1460"/>
              </a:spcBef>
            </a:pPr>
            <a:r>
              <a:rPr sz="2400" b="1" spc="35" dirty="0">
                <a:solidFill>
                  <a:srgbClr val="4E5862"/>
                </a:solidFill>
                <a:latin typeface="Tahoma"/>
                <a:cs typeface="Tahoma"/>
              </a:rPr>
              <a:t>04</a:t>
            </a:r>
            <a:endParaRPr sz="2400">
              <a:latin typeface="Tahoma"/>
              <a:cs typeface="Tahoma"/>
            </a:endParaRPr>
          </a:p>
          <a:p>
            <a:pPr marL="233045">
              <a:lnSpc>
                <a:spcPct val="100000"/>
              </a:lnSpc>
              <a:spcBef>
                <a:spcPts val="570"/>
              </a:spcBef>
            </a:pPr>
            <a:r>
              <a:rPr sz="1800" b="1" spc="-10" dirty="0">
                <a:solidFill>
                  <a:srgbClr val="4E5862"/>
                </a:solidFill>
                <a:latin typeface="Tahoma"/>
                <a:cs typeface="Tahoma"/>
              </a:rPr>
              <a:t>Split</a:t>
            </a:r>
            <a:endParaRPr sz="1800">
              <a:latin typeface="Tahoma"/>
              <a:cs typeface="Tahoma"/>
            </a:endParaRPr>
          </a:p>
          <a:p>
            <a:pPr marL="233045" marR="280035">
              <a:lnSpc>
                <a:spcPct val="127200"/>
              </a:lnSpc>
              <a:spcBef>
                <a:spcPts val="1385"/>
              </a:spcBef>
            </a:pPr>
            <a:r>
              <a:rPr sz="1400" spc="100" dirty="0">
                <a:solidFill>
                  <a:srgbClr val="4E5862"/>
                </a:solidFill>
                <a:latin typeface="Tahoma"/>
                <a:cs typeface="Tahoma"/>
              </a:rPr>
              <a:t>Use</a:t>
            </a:r>
            <a:r>
              <a:rPr sz="1400" spc="-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an</a:t>
            </a:r>
            <a:r>
              <a:rPr sz="1400" spc="-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4E5862"/>
                </a:solidFill>
                <a:latin typeface="Tahoma"/>
                <a:cs typeface="Tahoma"/>
              </a:rPr>
              <a:t>80:20</a:t>
            </a:r>
            <a:r>
              <a:rPr sz="1400" spc="-10" dirty="0">
                <a:solidFill>
                  <a:srgbClr val="4E5862"/>
                </a:solidFill>
                <a:latin typeface="Tahoma"/>
                <a:cs typeface="Tahoma"/>
              </a:rPr>
              <a:t> stratified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split:</a:t>
            </a:r>
            <a:r>
              <a:rPr sz="1400" spc="6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4E5862"/>
                </a:solidFill>
                <a:latin typeface="Tahoma"/>
                <a:cs typeface="Tahoma"/>
              </a:rPr>
              <a:t>8,402</a:t>
            </a:r>
            <a:r>
              <a:rPr sz="1400" spc="6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training</a:t>
            </a:r>
            <a:r>
              <a:rPr sz="1400" spc="6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25" dirty="0">
                <a:solidFill>
                  <a:srgbClr val="4E5862"/>
                </a:solidFill>
                <a:latin typeface="Tahoma"/>
                <a:cs typeface="Tahoma"/>
              </a:rPr>
              <a:t>and </a:t>
            </a:r>
            <a:r>
              <a:rPr sz="1400" spc="-80" dirty="0">
                <a:solidFill>
                  <a:srgbClr val="4E5862"/>
                </a:solidFill>
                <a:latin typeface="Tahoma"/>
                <a:cs typeface="Tahoma"/>
              </a:rPr>
              <a:t>2,101</a:t>
            </a:r>
            <a:r>
              <a:rPr sz="1400" spc="1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testing</a:t>
            </a:r>
            <a:r>
              <a:rPr sz="1400" spc="1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40" dirty="0">
                <a:solidFill>
                  <a:srgbClr val="4E5862"/>
                </a:solidFill>
                <a:latin typeface="Tahoma"/>
                <a:cs typeface="Tahoma"/>
              </a:rPr>
              <a:t>instances.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6899" y="4492625"/>
            <a:ext cx="4428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E5862"/>
                </a:solidFill>
                <a:latin typeface="Tahoma"/>
                <a:cs typeface="Tahoma"/>
              </a:rPr>
              <a:t>No</a:t>
            </a:r>
            <a:r>
              <a:rPr sz="1800" b="1" spc="-1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spc="-45" dirty="0">
                <a:solidFill>
                  <a:srgbClr val="4E5862"/>
                </a:solidFill>
                <a:latin typeface="Tahoma"/>
                <a:cs typeface="Tahoma"/>
              </a:rPr>
              <a:t>feature</a:t>
            </a:r>
            <a:r>
              <a:rPr sz="1800" b="1" spc="-10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spc="-30" dirty="0">
                <a:solidFill>
                  <a:srgbClr val="4E5862"/>
                </a:solidFill>
                <a:latin typeface="Tahoma"/>
                <a:cs typeface="Tahoma"/>
              </a:rPr>
              <a:t>standardization</a:t>
            </a:r>
            <a:r>
              <a:rPr sz="1800" b="1" spc="-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4E5862"/>
                </a:solidFill>
                <a:latin typeface="Tahoma"/>
                <a:cs typeface="Tahoma"/>
              </a:rPr>
              <a:t>was</a:t>
            </a:r>
            <a:r>
              <a:rPr sz="18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4E5862"/>
                </a:solidFill>
                <a:latin typeface="Tahoma"/>
                <a:cs typeface="Tahoma"/>
              </a:rPr>
              <a:t>applied.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5699" y="4404994"/>
            <a:ext cx="4969510" cy="110172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spc="110" dirty="0">
                <a:solidFill>
                  <a:srgbClr val="4E5862"/>
                </a:solidFill>
                <a:latin typeface="Tahoma"/>
                <a:cs typeface="Tahoma"/>
              </a:rPr>
              <a:t>Mean</a:t>
            </a:r>
            <a:r>
              <a:rPr sz="1800" spc="10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5862"/>
                </a:solidFill>
                <a:latin typeface="Tahoma"/>
                <a:cs typeface="Tahoma"/>
              </a:rPr>
              <a:t>imputation</a:t>
            </a:r>
            <a:r>
              <a:rPr sz="1800" spc="10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4E5862"/>
                </a:solidFill>
                <a:latin typeface="Tahoma"/>
                <a:cs typeface="Tahoma"/>
              </a:rPr>
              <a:t>follows</a:t>
            </a:r>
            <a:r>
              <a:rPr sz="1800" spc="10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5862"/>
                </a:solidFill>
                <a:latin typeface="Tahoma"/>
                <a:cs typeface="Tahoma"/>
              </a:rPr>
              <a:t>the</a:t>
            </a:r>
            <a:r>
              <a:rPr sz="1800" spc="10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60" dirty="0">
                <a:solidFill>
                  <a:srgbClr val="4E5862"/>
                </a:solidFill>
                <a:latin typeface="Tahoma"/>
                <a:cs typeface="Tahoma"/>
              </a:rPr>
              <a:t>reference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28499"/>
              </a:lnSpc>
              <a:spcBef>
                <a:spcPts val="75"/>
              </a:spcBef>
            </a:pPr>
            <a:r>
              <a:rPr sz="1800" spc="70" dirty="0">
                <a:solidFill>
                  <a:srgbClr val="4E5862"/>
                </a:solidFill>
                <a:latin typeface="Tahoma"/>
                <a:cs typeface="Tahoma"/>
              </a:rPr>
              <a:t>methodology</a:t>
            </a:r>
            <a:r>
              <a:rPr sz="1800" spc="-3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4E5862"/>
                </a:solidFill>
                <a:latin typeface="Tahoma"/>
                <a:cs typeface="Tahoma"/>
              </a:rPr>
              <a:t>and</a:t>
            </a:r>
            <a:r>
              <a:rPr sz="1800" spc="-3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4E5862"/>
                </a:solidFill>
                <a:latin typeface="Tahoma"/>
                <a:cs typeface="Tahoma"/>
              </a:rPr>
              <a:t>avoids</a:t>
            </a:r>
            <a:r>
              <a:rPr sz="1800" spc="-3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4E5862"/>
                </a:solidFill>
                <a:latin typeface="Tahoma"/>
                <a:cs typeface="Tahoma"/>
              </a:rPr>
              <a:t>dropping</a:t>
            </a:r>
            <a:r>
              <a:rPr sz="1800" spc="-3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4E5862"/>
                </a:solidFill>
                <a:latin typeface="Tahoma"/>
                <a:cs typeface="Tahoma"/>
              </a:rPr>
              <a:t>incomplete </a:t>
            </a:r>
            <a:r>
              <a:rPr sz="1800" spc="50" dirty="0">
                <a:solidFill>
                  <a:srgbClr val="4E5862"/>
                </a:solidFill>
                <a:latin typeface="Tahoma"/>
                <a:cs typeface="Tahoma"/>
              </a:rPr>
              <a:t>rows.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47647" y="6452851"/>
            <a:ext cx="336550" cy="1949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0</a:t>
            </a:r>
            <a:r>
              <a:rPr sz="1050" spc="-155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 </a:t>
            </a:r>
            <a:fld id="{81D60167-4931-47E6-BA6A-407CBD079E47}" type="slidenum">
              <a:rPr sz="1050" spc="-6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4</a:t>
            </a:fld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899" y="596900"/>
            <a:ext cx="1356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solidFill>
                  <a:srgbClr val="3D5C73"/>
                </a:solidFill>
                <a:latin typeface="Tahoma"/>
                <a:cs typeface="Tahoma"/>
              </a:rPr>
              <a:t>METHODOLOGY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One</a:t>
            </a:r>
            <a:r>
              <a:rPr spc="-130" dirty="0"/>
              <a:t> </a:t>
            </a:r>
            <a:r>
              <a:rPr spc="-80" dirty="0"/>
              <a:t>pipeline</a:t>
            </a:r>
            <a:r>
              <a:rPr spc="-125" dirty="0"/>
              <a:t> </a:t>
            </a:r>
            <a:r>
              <a:rPr spc="-55" dirty="0"/>
              <a:t>supports</a:t>
            </a:r>
            <a:r>
              <a:rPr spc="-130" dirty="0"/>
              <a:t> </a:t>
            </a:r>
            <a:r>
              <a:rPr spc="-110" dirty="0"/>
              <a:t>fair</a:t>
            </a:r>
            <a:r>
              <a:rPr spc="-125" dirty="0"/>
              <a:t> </a:t>
            </a:r>
            <a:r>
              <a:rPr spc="-90" dirty="0"/>
              <a:t>model</a:t>
            </a:r>
            <a:r>
              <a:rPr spc="-125" dirty="0"/>
              <a:t> </a:t>
            </a:r>
            <a:r>
              <a:rPr spc="-25" dirty="0"/>
              <a:t>comparison</a:t>
            </a:r>
          </a:p>
        </p:txBody>
      </p:sp>
      <p:sp>
        <p:nvSpPr>
          <p:cNvPr id="4" name="object 4"/>
          <p:cNvSpPr/>
          <p:nvPr/>
        </p:nvSpPr>
        <p:spPr>
          <a:xfrm>
            <a:off x="609599" y="1714499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10969351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4762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10969351" y="0"/>
                </a:lnTo>
                <a:lnTo>
                  <a:pt x="10970473" y="464"/>
                </a:lnTo>
                <a:lnTo>
                  <a:pt x="10972332" y="2324"/>
                </a:lnTo>
                <a:lnTo>
                  <a:pt x="10972798" y="3447"/>
                </a:lnTo>
                <a:lnTo>
                  <a:pt x="10972798" y="6077"/>
                </a:lnTo>
                <a:lnTo>
                  <a:pt x="10972332" y="7200"/>
                </a:lnTo>
                <a:lnTo>
                  <a:pt x="10970473" y="9059"/>
                </a:lnTo>
                <a:lnTo>
                  <a:pt x="10969351" y="9524"/>
                </a:lnTo>
                <a:close/>
              </a:path>
            </a:pathLst>
          </a:custGeom>
          <a:solidFill>
            <a:srgbClr val="173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6899" y="3248012"/>
            <a:ext cx="10598785" cy="12160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29700"/>
              </a:lnSpc>
              <a:spcBef>
                <a:spcPts val="135"/>
              </a:spcBef>
            </a:pPr>
            <a:r>
              <a:rPr sz="2000" spc="55" dirty="0">
                <a:solidFill>
                  <a:srgbClr val="297E7B"/>
                </a:solidFill>
                <a:latin typeface="Tahoma"/>
                <a:cs typeface="Tahoma"/>
              </a:rPr>
              <a:t>Dataset</a:t>
            </a:r>
            <a:r>
              <a:rPr sz="2000" spc="-15" dirty="0">
                <a:solidFill>
                  <a:srgbClr val="297E7B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4E5862"/>
                </a:solidFill>
                <a:latin typeface="Tahoma"/>
                <a:cs typeface="Tahoma"/>
              </a:rPr>
              <a:t>→</a:t>
            </a:r>
            <a:r>
              <a:rPr sz="2000" spc="-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4E5862"/>
                </a:solidFill>
                <a:latin typeface="Tahoma"/>
                <a:cs typeface="Tahoma"/>
              </a:rPr>
              <a:t>missing-</a:t>
            </a:r>
            <a:r>
              <a:rPr sz="2000" spc="70" dirty="0">
                <a:solidFill>
                  <a:srgbClr val="4E5862"/>
                </a:solidFill>
                <a:latin typeface="Tahoma"/>
                <a:cs typeface="Tahoma"/>
              </a:rPr>
              <a:t>value</a:t>
            </a:r>
            <a:r>
              <a:rPr sz="2000" spc="-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4E5862"/>
                </a:solidFill>
                <a:latin typeface="Tahoma"/>
                <a:cs typeface="Tahoma"/>
              </a:rPr>
              <a:t>handling</a:t>
            </a:r>
            <a:r>
              <a:rPr sz="2000" spc="-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4E5862"/>
                </a:solidFill>
                <a:latin typeface="Tahoma"/>
                <a:cs typeface="Tahoma"/>
              </a:rPr>
              <a:t>→</a:t>
            </a:r>
            <a:r>
              <a:rPr sz="2000" spc="-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4E5862"/>
                </a:solidFill>
                <a:latin typeface="Tahoma"/>
                <a:cs typeface="Tahoma"/>
              </a:rPr>
              <a:t>mean</a:t>
            </a:r>
            <a:r>
              <a:rPr sz="2000" spc="-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E5862"/>
                </a:solidFill>
                <a:latin typeface="Tahoma"/>
                <a:cs typeface="Tahoma"/>
              </a:rPr>
              <a:t>imputation</a:t>
            </a:r>
            <a:r>
              <a:rPr sz="2000" spc="-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4E5862"/>
                </a:solidFill>
                <a:latin typeface="Tahoma"/>
                <a:cs typeface="Tahoma"/>
              </a:rPr>
              <a:t>→</a:t>
            </a:r>
            <a:r>
              <a:rPr sz="2000" spc="-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E5862"/>
                </a:solidFill>
                <a:latin typeface="Tahoma"/>
                <a:cs typeface="Tahoma"/>
              </a:rPr>
              <a:t>stratified</a:t>
            </a:r>
            <a:r>
              <a:rPr sz="2000" spc="-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E5862"/>
                </a:solidFill>
                <a:latin typeface="Tahoma"/>
                <a:cs typeface="Tahoma"/>
              </a:rPr>
              <a:t>split</a:t>
            </a:r>
            <a:r>
              <a:rPr sz="2000" spc="-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4E5862"/>
                </a:solidFill>
                <a:latin typeface="Tahoma"/>
                <a:cs typeface="Tahoma"/>
              </a:rPr>
              <a:t>→</a:t>
            </a:r>
            <a:r>
              <a:rPr sz="2000" spc="-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4E5862"/>
                </a:solidFill>
                <a:latin typeface="Tahoma"/>
                <a:cs typeface="Tahoma"/>
              </a:rPr>
              <a:t>model</a:t>
            </a:r>
            <a:r>
              <a:rPr sz="2000" spc="-10" dirty="0">
                <a:solidFill>
                  <a:srgbClr val="4E5862"/>
                </a:solidFill>
                <a:latin typeface="Tahoma"/>
                <a:cs typeface="Tahoma"/>
              </a:rPr>
              <a:t> training </a:t>
            </a:r>
            <a:r>
              <a:rPr sz="2000" spc="75" dirty="0">
                <a:solidFill>
                  <a:srgbClr val="297E7B"/>
                </a:solidFill>
                <a:latin typeface="Tahoma"/>
                <a:cs typeface="Tahoma"/>
              </a:rPr>
              <a:t>Prediction</a:t>
            </a:r>
            <a:r>
              <a:rPr sz="2000" spc="-55" dirty="0">
                <a:solidFill>
                  <a:srgbClr val="297E7B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4E5862"/>
                </a:solidFill>
                <a:latin typeface="Tahoma"/>
                <a:cs typeface="Tahoma"/>
              </a:rPr>
              <a:t>→</a:t>
            </a:r>
            <a:r>
              <a:rPr sz="20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E5862"/>
                </a:solidFill>
                <a:latin typeface="Tahoma"/>
                <a:cs typeface="Tahoma"/>
              </a:rPr>
              <a:t>evaluation</a:t>
            </a:r>
            <a:r>
              <a:rPr sz="20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4E5862"/>
                </a:solidFill>
                <a:latin typeface="Tahoma"/>
                <a:cs typeface="Tahoma"/>
              </a:rPr>
              <a:t>→</a:t>
            </a:r>
            <a:r>
              <a:rPr sz="20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135" dirty="0">
                <a:solidFill>
                  <a:srgbClr val="4E5862"/>
                </a:solidFill>
                <a:latin typeface="Tahoma"/>
                <a:cs typeface="Tahoma"/>
              </a:rPr>
              <a:t>5-</a:t>
            </a:r>
            <a:r>
              <a:rPr sz="2000" spc="70" dirty="0">
                <a:solidFill>
                  <a:srgbClr val="4E5862"/>
                </a:solidFill>
                <a:latin typeface="Tahoma"/>
                <a:cs typeface="Tahoma"/>
              </a:rPr>
              <a:t>fold</a:t>
            </a:r>
            <a:r>
              <a:rPr sz="2000" spc="-5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E5862"/>
                </a:solidFill>
                <a:latin typeface="Tahoma"/>
                <a:cs typeface="Tahoma"/>
              </a:rPr>
              <a:t>stratified</a:t>
            </a:r>
            <a:r>
              <a:rPr sz="20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4E5862"/>
                </a:solidFill>
                <a:latin typeface="Tahoma"/>
                <a:cs typeface="Tahoma"/>
              </a:rPr>
              <a:t>cross-</a:t>
            </a:r>
            <a:r>
              <a:rPr sz="2000" spc="50" dirty="0">
                <a:solidFill>
                  <a:srgbClr val="4E5862"/>
                </a:solidFill>
                <a:latin typeface="Tahoma"/>
                <a:cs typeface="Tahoma"/>
              </a:rPr>
              <a:t>validation</a:t>
            </a:r>
            <a:r>
              <a:rPr sz="20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4E5862"/>
                </a:solidFill>
                <a:latin typeface="Tahoma"/>
                <a:cs typeface="Tahoma"/>
              </a:rPr>
              <a:t>→</a:t>
            </a:r>
            <a:r>
              <a:rPr sz="20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90" dirty="0">
                <a:solidFill>
                  <a:srgbClr val="4E5862"/>
                </a:solidFill>
                <a:latin typeface="Tahoma"/>
                <a:cs typeface="Tahoma"/>
              </a:rPr>
              <a:t>comparison</a:t>
            </a:r>
            <a:r>
              <a:rPr sz="20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4E5862"/>
                </a:solidFill>
                <a:latin typeface="Tahoma"/>
                <a:cs typeface="Tahoma"/>
              </a:rPr>
              <a:t>→</a:t>
            </a:r>
            <a:r>
              <a:rPr sz="2000" spc="-5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4E5862"/>
                </a:solidFill>
                <a:latin typeface="Tahoma"/>
                <a:cs typeface="Tahoma"/>
              </a:rPr>
              <a:t>imbalance </a:t>
            </a:r>
            <a:r>
              <a:rPr sz="2000" spc="55" dirty="0">
                <a:solidFill>
                  <a:srgbClr val="4E5862"/>
                </a:solidFill>
                <a:latin typeface="Tahoma"/>
                <a:cs typeface="Tahoma"/>
              </a:rPr>
              <a:t>analysis.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6899" y="5991288"/>
            <a:ext cx="65906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7737C"/>
                </a:solidFill>
                <a:latin typeface="Tahoma"/>
                <a:cs typeface="Tahoma"/>
              </a:rPr>
              <a:t>Imputation</a:t>
            </a:r>
            <a:r>
              <a:rPr sz="1400" spc="45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75" dirty="0">
                <a:solidFill>
                  <a:srgbClr val="67737C"/>
                </a:solidFill>
                <a:latin typeface="Tahoma"/>
                <a:cs typeface="Tahoma"/>
              </a:rPr>
              <a:t>stays</a:t>
            </a:r>
            <a:r>
              <a:rPr sz="1400" spc="5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67737C"/>
                </a:solidFill>
                <a:latin typeface="Tahoma"/>
                <a:cs typeface="Tahoma"/>
              </a:rPr>
              <a:t>inside</a:t>
            </a:r>
            <a:r>
              <a:rPr sz="1400" spc="5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7737C"/>
                </a:solidFill>
                <a:latin typeface="Tahoma"/>
                <a:cs typeface="Tahoma"/>
              </a:rPr>
              <a:t>the</a:t>
            </a:r>
            <a:r>
              <a:rPr sz="1400" spc="45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105" dirty="0">
                <a:solidFill>
                  <a:srgbClr val="67737C"/>
                </a:solidFill>
                <a:latin typeface="Tahoma"/>
                <a:cs typeface="Tahoma"/>
              </a:rPr>
              <a:t>cross-</a:t>
            </a:r>
            <a:r>
              <a:rPr sz="1400" spc="45" dirty="0">
                <a:solidFill>
                  <a:srgbClr val="67737C"/>
                </a:solidFill>
                <a:latin typeface="Tahoma"/>
                <a:cs typeface="Tahoma"/>
              </a:rPr>
              <a:t>validation</a:t>
            </a:r>
            <a:r>
              <a:rPr sz="1400" spc="5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67737C"/>
                </a:solidFill>
                <a:latin typeface="Tahoma"/>
                <a:cs typeface="Tahoma"/>
              </a:rPr>
              <a:t>pipeline</a:t>
            </a:r>
            <a:r>
              <a:rPr sz="1400" spc="5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7737C"/>
                </a:solidFill>
                <a:latin typeface="Tahoma"/>
                <a:cs typeface="Tahoma"/>
              </a:rPr>
              <a:t>to</a:t>
            </a:r>
            <a:r>
              <a:rPr sz="1400" spc="50" dirty="0">
                <a:solidFill>
                  <a:srgbClr val="67737C"/>
                </a:solidFill>
                <a:latin typeface="Tahoma"/>
                <a:cs typeface="Tahoma"/>
              </a:rPr>
              <a:t> prevent</a:t>
            </a:r>
            <a:r>
              <a:rPr sz="1400" spc="45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67737C"/>
                </a:solidFill>
                <a:latin typeface="Tahoma"/>
                <a:cs typeface="Tahoma"/>
              </a:rPr>
              <a:t>data </a:t>
            </a:r>
            <a:r>
              <a:rPr sz="1400" spc="45" dirty="0">
                <a:solidFill>
                  <a:srgbClr val="67737C"/>
                </a:solidFill>
                <a:latin typeface="Tahoma"/>
                <a:cs typeface="Tahoma"/>
              </a:rPr>
              <a:t>leakage.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47647" y="6452851"/>
            <a:ext cx="336550" cy="1949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0</a:t>
            </a:r>
            <a:r>
              <a:rPr sz="1050" spc="-155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 </a:t>
            </a:r>
            <a:fld id="{81D60167-4931-47E6-BA6A-407CBD079E47}" type="slidenum">
              <a:rPr sz="1050" spc="-6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5</a:t>
            </a:fld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899" y="591566"/>
            <a:ext cx="71183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70" dirty="0">
                <a:solidFill>
                  <a:srgbClr val="3D5C73"/>
                </a:solidFill>
                <a:latin typeface="Tahoma"/>
                <a:cs typeface="Tahoma"/>
              </a:rPr>
              <a:t>MODELS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6899" y="863600"/>
            <a:ext cx="9932670" cy="4456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IN" sz="2800" dirty="0"/>
              <a:t>Six reference models + one extension</a:t>
            </a:r>
            <a:endParaRPr sz="2900" dirty="0"/>
          </a:p>
        </p:txBody>
      </p:sp>
      <p:sp>
        <p:nvSpPr>
          <p:cNvPr id="4" name="object 4"/>
          <p:cNvSpPr/>
          <p:nvPr/>
        </p:nvSpPr>
        <p:spPr>
          <a:xfrm>
            <a:off x="609599" y="1676399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10969351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4762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10969351" y="0"/>
                </a:lnTo>
                <a:lnTo>
                  <a:pt x="10970473" y="464"/>
                </a:lnTo>
                <a:lnTo>
                  <a:pt x="10972332" y="2324"/>
                </a:lnTo>
                <a:lnTo>
                  <a:pt x="10972798" y="3447"/>
                </a:lnTo>
                <a:lnTo>
                  <a:pt x="10972798" y="6077"/>
                </a:lnTo>
                <a:lnTo>
                  <a:pt x="10972332" y="7200"/>
                </a:lnTo>
                <a:lnTo>
                  <a:pt x="10970473" y="9059"/>
                </a:lnTo>
                <a:lnTo>
                  <a:pt x="10969351" y="9524"/>
                </a:lnTo>
                <a:close/>
              </a:path>
            </a:pathLst>
          </a:custGeom>
          <a:solidFill>
            <a:srgbClr val="173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4362" y="2024062"/>
            <a:ext cx="3495675" cy="962025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1210"/>
              </a:spcBef>
            </a:pPr>
            <a:r>
              <a:rPr sz="1150" b="1" spc="-10" dirty="0">
                <a:solidFill>
                  <a:srgbClr val="4E5862"/>
                </a:solidFill>
                <a:latin typeface="Tahoma"/>
                <a:cs typeface="Tahoma"/>
              </a:rPr>
              <a:t>LINEAR</a:t>
            </a:r>
            <a:endParaRPr sz="1150">
              <a:latin typeface="Tahoma"/>
              <a:cs typeface="Tahoma"/>
            </a:endParaRPr>
          </a:p>
          <a:p>
            <a:pPr marL="309245">
              <a:lnSpc>
                <a:spcPct val="100000"/>
              </a:lnSpc>
              <a:spcBef>
                <a:spcPts val="969"/>
              </a:spcBef>
            </a:pPr>
            <a:r>
              <a:rPr sz="2100" b="1" spc="-10" dirty="0">
                <a:solidFill>
                  <a:srgbClr val="4E5862"/>
                </a:solidFill>
                <a:latin typeface="Tahoma"/>
                <a:cs typeface="Tahoma"/>
              </a:rPr>
              <a:t>Logistic</a:t>
            </a:r>
            <a:r>
              <a:rPr sz="2100" b="1" spc="-8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100" b="1" spc="-10" dirty="0">
                <a:solidFill>
                  <a:srgbClr val="4E5862"/>
                </a:solidFill>
                <a:latin typeface="Tahoma"/>
                <a:cs typeface="Tahoma"/>
              </a:rPr>
              <a:t>Regression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4362" y="2024062"/>
            <a:ext cx="3343275" cy="962025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1210"/>
              </a:spcBef>
            </a:pPr>
            <a:r>
              <a:rPr sz="1150" b="1" spc="65" dirty="0">
                <a:solidFill>
                  <a:srgbClr val="4E5862"/>
                </a:solidFill>
                <a:latin typeface="Tahoma"/>
                <a:cs typeface="Tahoma"/>
              </a:rPr>
              <a:t>MARGIN-</a:t>
            </a:r>
            <a:r>
              <a:rPr sz="1150" b="1" spc="60" dirty="0">
                <a:solidFill>
                  <a:srgbClr val="4E5862"/>
                </a:solidFill>
                <a:latin typeface="Tahoma"/>
                <a:cs typeface="Tahoma"/>
              </a:rPr>
              <a:t>BASED</a:t>
            </a:r>
            <a:endParaRPr sz="1150">
              <a:latin typeface="Tahoma"/>
              <a:cs typeface="Tahoma"/>
            </a:endParaRPr>
          </a:p>
          <a:p>
            <a:pPr marL="309245">
              <a:lnSpc>
                <a:spcPct val="100000"/>
              </a:lnSpc>
              <a:spcBef>
                <a:spcPts val="969"/>
              </a:spcBef>
            </a:pPr>
            <a:r>
              <a:rPr sz="2100" b="1" spc="70" dirty="0">
                <a:solidFill>
                  <a:srgbClr val="4E5862"/>
                </a:solidFill>
                <a:latin typeface="Tahoma"/>
                <a:cs typeface="Tahoma"/>
              </a:rPr>
              <a:t>SVM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81961" y="2024062"/>
            <a:ext cx="3495675" cy="962025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1210"/>
              </a:spcBef>
            </a:pPr>
            <a:r>
              <a:rPr sz="1150" b="1" spc="55" dirty="0">
                <a:solidFill>
                  <a:srgbClr val="4E5862"/>
                </a:solidFill>
                <a:latin typeface="Tahoma"/>
                <a:cs typeface="Tahoma"/>
              </a:rPr>
              <a:t>NEURAL</a:t>
            </a:r>
            <a:endParaRPr sz="1150">
              <a:latin typeface="Tahoma"/>
              <a:cs typeface="Tahoma"/>
            </a:endParaRPr>
          </a:p>
          <a:p>
            <a:pPr marL="309245">
              <a:lnSpc>
                <a:spcPct val="100000"/>
              </a:lnSpc>
              <a:spcBef>
                <a:spcPts val="969"/>
              </a:spcBef>
            </a:pPr>
            <a:r>
              <a:rPr sz="2100" b="1" spc="-40" dirty="0">
                <a:solidFill>
                  <a:srgbClr val="4E5862"/>
                </a:solidFill>
                <a:latin typeface="Tahoma"/>
                <a:cs typeface="Tahoma"/>
              </a:rPr>
              <a:t>Neural</a:t>
            </a:r>
            <a:r>
              <a:rPr sz="2100" b="1" spc="-9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100" b="1" spc="-40" dirty="0">
                <a:solidFill>
                  <a:srgbClr val="4E5862"/>
                </a:solidFill>
                <a:latin typeface="Tahoma"/>
                <a:cs typeface="Tahoma"/>
              </a:rPr>
              <a:t>Network</a:t>
            </a:r>
            <a:r>
              <a:rPr sz="2100" b="1" spc="-8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100" b="1" spc="-415" dirty="0">
                <a:solidFill>
                  <a:srgbClr val="4E5862"/>
                </a:solidFill>
                <a:latin typeface="Tahoma"/>
                <a:cs typeface="Tahoma"/>
              </a:rPr>
              <a:t>/</a:t>
            </a:r>
            <a:r>
              <a:rPr sz="2100" b="1" spc="-8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100" b="1" spc="-25" dirty="0">
                <a:solidFill>
                  <a:srgbClr val="4E5862"/>
                </a:solidFill>
                <a:latin typeface="Tahoma"/>
                <a:cs typeface="Tahoma"/>
              </a:rPr>
              <a:t>MLP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362" y="3300412"/>
            <a:ext cx="3495675" cy="952500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1210"/>
              </a:spcBef>
            </a:pPr>
            <a:r>
              <a:rPr sz="1150" b="1" spc="-10" dirty="0">
                <a:solidFill>
                  <a:srgbClr val="4E5862"/>
                </a:solidFill>
                <a:latin typeface="Tahoma"/>
                <a:cs typeface="Tahoma"/>
              </a:rPr>
              <a:t>PROBABILISTIC</a:t>
            </a:r>
            <a:endParaRPr sz="1150">
              <a:latin typeface="Tahoma"/>
              <a:cs typeface="Tahoma"/>
            </a:endParaRPr>
          </a:p>
          <a:p>
            <a:pPr marL="309245">
              <a:lnSpc>
                <a:spcPct val="100000"/>
              </a:lnSpc>
              <a:spcBef>
                <a:spcPts val="969"/>
              </a:spcBef>
            </a:pPr>
            <a:r>
              <a:rPr sz="2100" b="1" spc="-50" dirty="0">
                <a:solidFill>
                  <a:srgbClr val="4E5862"/>
                </a:solidFill>
                <a:latin typeface="Tahoma"/>
                <a:cs typeface="Tahoma"/>
              </a:rPr>
              <a:t>Bernoulli</a:t>
            </a:r>
            <a:r>
              <a:rPr sz="2100" b="1" spc="-9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100" b="1" spc="-20" dirty="0">
                <a:solidFill>
                  <a:srgbClr val="4E5862"/>
                </a:solidFill>
                <a:latin typeface="Tahoma"/>
                <a:cs typeface="Tahoma"/>
              </a:rPr>
              <a:t>Naive</a:t>
            </a:r>
            <a:r>
              <a:rPr sz="2100" b="1" spc="-9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100" b="1" spc="-20" dirty="0">
                <a:solidFill>
                  <a:srgbClr val="4E5862"/>
                </a:solidFill>
                <a:latin typeface="Tahoma"/>
                <a:cs typeface="Tahoma"/>
              </a:rPr>
              <a:t>Bayes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4362" y="3300412"/>
            <a:ext cx="3343275" cy="952500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1210"/>
              </a:spcBef>
            </a:pPr>
            <a:r>
              <a:rPr sz="1150" b="1" spc="50" dirty="0">
                <a:solidFill>
                  <a:srgbClr val="4E5862"/>
                </a:solidFill>
                <a:latin typeface="Tahoma"/>
                <a:cs typeface="Tahoma"/>
              </a:rPr>
              <a:t>BOOSTING</a:t>
            </a:r>
            <a:endParaRPr sz="1150">
              <a:latin typeface="Tahoma"/>
              <a:cs typeface="Tahoma"/>
            </a:endParaRPr>
          </a:p>
          <a:p>
            <a:pPr marL="309245">
              <a:lnSpc>
                <a:spcPct val="100000"/>
              </a:lnSpc>
              <a:spcBef>
                <a:spcPts val="969"/>
              </a:spcBef>
            </a:pPr>
            <a:r>
              <a:rPr sz="2100" b="1" spc="-10" dirty="0">
                <a:solidFill>
                  <a:srgbClr val="4E5862"/>
                </a:solidFill>
                <a:latin typeface="Tahoma"/>
                <a:cs typeface="Tahoma"/>
              </a:rPr>
              <a:t>XGBoost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81961" y="3300412"/>
            <a:ext cx="3495675" cy="952500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1210"/>
              </a:spcBef>
            </a:pPr>
            <a:r>
              <a:rPr sz="1150" b="1" spc="50" dirty="0">
                <a:solidFill>
                  <a:srgbClr val="4E5862"/>
                </a:solidFill>
                <a:latin typeface="Tahoma"/>
                <a:cs typeface="Tahoma"/>
              </a:rPr>
              <a:t>BOOSTING</a:t>
            </a:r>
            <a:endParaRPr sz="1150">
              <a:latin typeface="Tahoma"/>
              <a:cs typeface="Tahoma"/>
            </a:endParaRPr>
          </a:p>
          <a:p>
            <a:pPr marL="309245">
              <a:lnSpc>
                <a:spcPct val="100000"/>
              </a:lnSpc>
              <a:spcBef>
                <a:spcPts val="969"/>
              </a:spcBef>
            </a:pPr>
            <a:r>
              <a:rPr sz="2100" b="1" spc="-10" dirty="0">
                <a:solidFill>
                  <a:srgbClr val="4E5862"/>
                </a:solidFill>
                <a:latin typeface="Tahoma"/>
                <a:cs typeface="Tahoma"/>
              </a:rPr>
              <a:t>LightGBM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9599" y="4562474"/>
            <a:ext cx="5334000" cy="971550"/>
            <a:chOff x="609599" y="4562474"/>
            <a:chExt cx="5334000" cy="971550"/>
          </a:xfrm>
        </p:grpSpPr>
        <p:sp>
          <p:nvSpPr>
            <p:cNvPr id="12" name="object 12"/>
            <p:cNvSpPr/>
            <p:nvPr/>
          </p:nvSpPr>
          <p:spPr>
            <a:xfrm>
              <a:off x="609599" y="4562474"/>
              <a:ext cx="5334000" cy="19050"/>
            </a:xfrm>
            <a:custGeom>
              <a:avLst/>
              <a:gdLst/>
              <a:ahLst/>
              <a:cxnLst/>
              <a:rect l="l" t="t" r="r" b="b"/>
              <a:pathLst>
                <a:path w="5334000" h="19050">
                  <a:moveTo>
                    <a:pt x="53339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5333999" y="0"/>
                  </a:lnTo>
                  <a:lnTo>
                    <a:pt x="5333999" y="19049"/>
                  </a:lnTo>
                  <a:close/>
                </a:path>
              </a:pathLst>
            </a:custGeom>
            <a:solidFill>
              <a:srgbClr val="173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587" y="4562474"/>
              <a:ext cx="5334000" cy="971550"/>
            </a:xfrm>
            <a:custGeom>
              <a:avLst/>
              <a:gdLst/>
              <a:ahLst/>
              <a:cxnLst/>
              <a:rect l="l" t="t" r="r" b="b"/>
              <a:pathLst>
                <a:path w="5334000" h="971550">
                  <a:moveTo>
                    <a:pt x="5334000" y="0"/>
                  </a:moveTo>
                  <a:lnTo>
                    <a:pt x="5324475" y="19050"/>
                  </a:lnTo>
                  <a:lnTo>
                    <a:pt x="5324475" y="962025"/>
                  </a:lnTo>
                  <a:lnTo>
                    <a:pt x="9525" y="962025"/>
                  </a:lnTo>
                  <a:lnTo>
                    <a:pt x="9525" y="19050"/>
                  </a:lnTo>
                  <a:lnTo>
                    <a:pt x="0" y="0"/>
                  </a:lnTo>
                  <a:lnTo>
                    <a:pt x="0" y="962025"/>
                  </a:lnTo>
                  <a:lnTo>
                    <a:pt x="0" y="971550"/>
                  </a:lnTo>
                  <a:lnTo>
                    <a:pt x="9525" y="971550"/>
                  </a:lnTo>
                  <a:lnTo>
                    <a:pt x="5324475" y="971550"/>
                  </a:lnTo>
                  <a:lnTo>
                    <a:pt x="5334000" y="971550"/>
                  </a:lnTo>
                  <a:lnTo>
                    <a:pt x="5334000" y="962025"/>
                  </a:lnTo>
                  <a:lnTo>
                    <a:pt x="5334000" y="0"/>
                  </a:lnTo>
                  <a:close/>
                </a:path>
              </a:pathLst>
            </a:custGeom>
            <a:solidFill>
              <a:srgbClr val="D8D5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9124" y="4651692"/>
            <a:ext cx="5314950" cy="71183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620"/>
              </a:spcBef>
            </a:pPr>
            <a:r>
              <a:rPr sz="1150" b="1" spc="80" dirty="0">
                <a:solidFill>
                  <a:srgbClr val="4E5862"/>
                </a:solidFill>
                <a:latin typeface="Tahoma"/>
                <a:cs typeface="Tahoma"/>
              </a:rPr>
              <a:t>ENSEMBLE</a:t>
            </a:r>
            <a:r>
              <a:rPr sz="1150" b="1" spc="12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150" b="1" dirty="0">
                <a:solidFill>
                  <a:srgbClr val="4E5862"/>
                </a:solidFill>
                <a:latin typeface="Tahoma"/>
                <a:cs typeface="Tahoma"/>
              </a:rPr>
              <a:t>·</a:t>
            </a:r>
            <a:r>
              <a:rPr sz="1150" b="1" spc="12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150" b="1" spc="50" dirty="0">
                <a:solidFill>
                  <a:srgbClr val="4E5862"/>
                </a:solidFill>
                <a:latin typeface="Tahoma"/>
                <a:cs typeface="Tahoma"/>
              </a:rPr>
              <a:t>EXTENSION</a:t>
            </a:r>
            <a:endParaRPr sz="1150">
              <a:latin typeface="Tahoma"/>
              <a:cs typeface="Tahoma"/>
            </a:endParaRPr>
          </a:p>
          <a:p>
            <a:pPr marL="304800">
              <a:lnSpc>
                <a:spcPct val="100000"/>
              </a:lnSpc>
              <a:spcBef>
                <a:spcPts val="969"/>
              </a:spcBef>
            </a:pPr>
            <a:r>
              <a:rPr sz="2100" b="1" spc="-55" dirty="0">
                <a:solidFill>
                  <a:srgbClr val="297E7B"/>
                </a:solidFill>
                <a:latin typeface="Tahoma"/>
                <a:cs typeface="Tahoma"/>
              </a:rPr>
              <a:t>Random</a:t>
            </a:r>
            <a:r>
              <a:rPr sz="2100" b="1" spc="-95" dirty="0">
                <a:solidFill>
                  <a:srgbClr val="297E7B"/>
                </a:solidFill>
                <a:latin typeface="Tahoma"/>
                <a:cs typeface="Tahoma"/>
              </a:rPr>
              <a:t> </a:t>
            </a:r>
            <a:r>
              <a:rPr sz="2100" b="1" spc="-10" dirty="0">
                <a:solidFill>
                  <a:srgbClr val="297E7B"/>
                </a:solidFill>
                <a:latin typeface="Tahoma"/>
                <a:cs typeface="Tahoma"/>
              </a:rPr>
              <a:t>Forest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48399" y="4562474"/>
            <a:ext cx="5334000" cy="971550"/>
            <a:chOff x="6248399" y="4562474"/>
            <a:chExt cx="5334000" cy="971550"/>
          </a:xfrm>
        </p:grpSpPr>
        <p:sp>
          <p:nvSpPr>
            <p:cNvPr id="16" name="object 16"/>
            <p:cNvSpPr/>
            <p:nvPr/>
          </p:nvSpPr>
          <p:spPr>
            <a:xfrm>
              <a:off x="6248399" y="4562474"/>
              <a:ext cx="5334000" cy="19050"/>
            </a:xfrm>
            <a:custGeom>
              <a:avLst/>
              <a:gdLst/>
              <a:ahLst/>
              <a:cxnLst/>
              <a:rect l="l" t="t" r="r" b="b"/>
              <a:pathLst>
                <a:path w="5334000" h="19050">
                  <a:moveTo>
                    <a:pt x="53339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5333999" y="0"/>
                  </a:lnTo>
                  <a:lnTo>
                    <a:pt x="5333999" y="19049"/>
                  </a:lnTo>
                  <a:close/>
                </a:path>
              </a:pathLst>
            </a:custGeom>
            <a:solidFill>
              <a:srgbClr val="173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48387" y="4562474"/>
              <a:ext cx="5334000" cy="971550"/>
            </a:xfrm>
            <a:custGeom>
              <a:avLst/>
              <a:gdLst/>
              <a:ahLst/>
              <a:cxnLst/>
              <a:rect l="l" t="t" r="r" b="b"/>
              <a:pathLst>
                <a:path w="5334000" h="971550">
                  <a:moveTo>
                    <a:pt x="5334000" y="0"/>
                  </a:moveTo>
                  <a:lnTo>
                    <a:pt x="5324475" y="19050"/>
                  </a:lnTo>
                  <a:lnTo>
                    <a:pt x="5324475" y="962025"/>
                  </a:lnTo>
                  <a:lnTo>
                    <a:pt x="9525" y="962025"/>
                  </a:lnTo>
                  <a:lnTo>
                    <a:pt x="9525" y="19050"/>
                  </a:lnTo>
                  <a:lnTo>
                    <a:pt x="0" y="0"/>
                  </a:lnTo>
                  <a:lnTo>
                    <a:pt x="0" y="962025"/>
                  </a:lnTo>
                  <a:lnTo>
                    <a:pt x="0" y="971550"/>
                  </a:lnTo>
                  <a:lnTo>
                    <a:pt x="9525" y="971550"/>
                  </a:lnTo>
                  <a:lnTo>
                    <a:pt x="5324475" y="971550"/>
                  </a:lnTo>
                  <a:lnTo>
                    <a:pt x="5334000" y="971550"/>
                  </a:lnTo>
                  <a:lnTo>
                    <a:pt x="5334000" y="962025"/>
                  </a:lnTo>
                  <a:lnTo>
                    <a:pt x="5334000" y="0"/>
                  </a:lnTo>
                  <a:close/>
                </a:path>
              </a:pathLst>
            </a:custGeom>
            <a:solidFill>
              <a:srgbClr val="D8D5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57924" y="4651692"/>
            <a:ext cx="5314950" cy="71183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620"/>
              </a:spcBef>
            </a:pPr>
            <a:r>
              <a:rPr sz="1150" b="1" spc="75" dirty="0">
                <a:solidFill>
                  <a:srgbClr val="4E5862"/>
                </a:solidFill>
                <a:latin typeface="Tahoma"/>
                <a:cs typeface="Tahoma"/>
              </a:rPr>
              <a:t>IMBALANCE</a:t>
            </a:r>
            <a:r>
              <a:rPr sz="1150" b="1" spc="16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150" b="1" spc="50" dirty="0">
                <a:solidFill>
                  <a:srgbClr val="4E5862"/>
                </a:solidFill>
                <a:latin typeface="Tahoma"/>
                <a:cs typeface="Tahoma"/>
              </a:rPr>
              <a:t>EXPERIMENT</a:t>
            </a:r>
            <a:endParaRPr sz="1150">
              <a:latin typeface="Tahoma"/>
              <a:cs typeface="Tahoma"/>
            </a:endParaRPr>
          </a:p>
          <a:p>
            <a:pPr marL="304800">
              <a:lnSpc>
                <a:spcPct val="100000"/>
              </a:lnSpc>
              <a:spcBef>
                <a:spcPts val="969"/>
              </a:spcBef>
            </a:pPr>
            <a:r>
              <a:rPr sz="2100" b="1" spc="-10" dirty="0">
                <a:solidFill>
                  <a:srgbClr val="4E5862"/>
                </a:solidFill>
                <a:latin typeface="Tahoma"/>
                <a:cs typeface="Tahoma"/>
              </a:rPr>
              <a:t>Balanced</a:t>
            </a:r>
            <a:r>
              <a:rPr sz="2100" b="1" spc="-1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100" b="1" spc="-55" dirty="0">
                <a:solidFill>
                  <a:srgbClr val="4E5862"/>
                </a:solidFill>
                <a:latin typeface="Tahoma"/>
                <a:cs typeface="Tahoma"/>
              </a:rPr>
              <a:t>Random</a:t>
            </a:r>
            <a:r>
              <a:rPr sz="2100" b="1" spc="-9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100" b="1" spc="-10" dirty="0">
                <a:solidFill>
                  <a:srgbClr val="4E5862"/>
                </a:solidFill>
                <a:latin typeface="Tahoma"/>
                <a:cs typeface="Tahoma"/>
              </a:rPr>
              <a:t>Forest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6899" y="5518162"/>
            <a:ext cx="100374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1600" dirty="0"/>
              <a:t>Six models reproduce the reference study; Random Forest is our extension, followed by a balancing experiment.</a:t>
            </a:r>
            <a:endParaRPr sz="1750" dirty="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347647" y="6452851"/>
            <a:ext cx="336550" cy="1949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0</a:t>
            </a:r>
            <a:r>
              <a:rPr sz="1050" spc="-155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 </a:t>
            </a:r>
            <a:fld id="{81D60167-4931-47E6-BA6A-407CBD079E47}" type="slidenum">
              <a:rPr sz="1050" spc="-6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6</a:t>
            </a:fld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899" y="596900"/>
            <a:ext cx="1106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40" dirty="0">
                <a:solidFill>
                  <a:srgbClr val="3D5C73"/>
                </a:solidFill>
                <a:latin typeface="Tahoma"/>
                <a:cs typeface="Tahoma"/>
              </a:rPr>
              <a:t>EVALUATION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6899" y="863600"/>
            <a:ext cx="99326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dirty="0"/>
              <a:t>Accuracy is useful, but it cannot carry the story alone</a:t>
            </a:r>
            <a:endParaRPr sz="2800" spc="-10" dirty="0"/>
          </a:p>
        </p:txBody>
      </p:sp>
      <p:sp>
        <p:nvSpPr>
          <p:cNvPr id="4" name="object 4"/>
          <p:cNvSpPr/>
          <p:nvPr/>
        </p:nvSpPr>
        <p:spPr>
          <a:xfrm>
            <a:off x="609599" y="1666874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10969351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4762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10969351" y="0"/>
                </a:lnTo>
                <a:lnTo>
                  <a:pt x="10970473" y="464"/>
                </a:lnTo>
                <a:lnTo>
                  <a:pt x="10972332" y="2324"/>
                </a:lnTo>
                <a:lnTo>
                  <a:pt x="10972798" y="3447"/>
                </a:lnTo>
                <a:lnTo>
                  <a:pt x="10972798" y="6077"/>
                </a:lnTo>
                <a:lnTo>
                  <a:pt x="10972332" y="7200"/>
                </a:lnTo>
                <a:lnTo>
                  <a:pt x="10970473" y="9060"/>
                </a:lnTo>
                <a:lnTo>
                  <a:pt x="10969351" y="9524"/>
                </a:lnTo>
                <a:close/>
              </a:path>
            </a:pathLst>
          </a:custGeom>
          <a:solidFill>
            <a:srgbClr val="173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4362" y="1976437"/>
            <a:ext cx="3067050" cy="1247775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785"/>
              </a:spcBef>
            </a:pPr>
            <a:r>
              <a:rPr sz="1800" b="1" spc="-10" dirty="0">
                <a:solidFill>
                  <a:srgbClr val="4E5862"/>
                </a:solidFill>
                <a:latin typeface="Tahoma"/>
                <a:cs typeface="Tahoma"/>
              </a:rPr>
              <a:t>Accuracy</a:t>
            </a:r>
            <a:endParaRPr sz="1800">
              <a:latin typeface="Tahoma"/>
              <a:cs typeface="Tahoma"/>
            </a:endParaRPr>
          </a:p>
          <a:p>
            <a:pPr marL="233045" marR="843915">
              <a:lnSpc>
                <a:spcPct val="129500"/>
              </a:lnSpc>
              <a:spcBef>
                <a:spcPts val="1270"/>
              </a:spcBef>
            </a:pP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Overall</a:t>
            </a:r>
            <a:r>
              <a:rPr sz="1400" spc="50" dirty="0">
                <a:solidFill>
                  <a:srgbClr val="4E5862"/>
                </a:solidFill>
                <a:latin typeface="Tahoma"/>
                <a:cs typeface="Tahoma"/>
              </a:rPr>
              <a:t> share</a:t>
            </a:r>
            <a:r>
              <a:rPr sz="1400" spc="5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4E5862"/>
                </a:solidFill>
                <a:latin typeface="Tahoma"/>
                <a:cs typeface="Tahoma"/>
              </a:rPr>
              <a:t>of</a:t>
            </a:r>
            <a:r>
              <a:rPr sz="1400" spc="55" dirty="0">
                <a:solidFill>
                  <a:srgbClr val="4E5862"/>
                </a:solidFill>
                <a:latin typeface="Tahoma"/>
                <a:cs typeface="Tahoma"/>
              </a:rPr>
              <a:t> correct </a:t>
            </a:r>
            <a:r>
              <a:rPr sz="1400" spc="35" dirty="0">
                <a:solidFill>
                  <a:srgbClr val="4E5862"/>
                </a:solidFill>
                <a:latin typeface="Tahoma"/>
                <a:cs typeface="Tahoma"/>
              </a:rPr>
              <a:t>predictions.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3337" y="1976437"/>
            <a:ext cx="3067050" cy="1247775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785"/>
              </a:spcBef>
            </a:pPr>
            <a:r>
              <a:rPr sz="1800" b="1" spc="-10" dirty="0">
                <a:solidFill>
                  <a:srgbClr val="4E5862"/>
                </a:solidFill>
                <a:latin typeface="Tahoma"/>
                <a:cs typeface="Tahoma"/>
              </a:rPr>
              <a:t>Log</a:t>
            </a:r>
            <a:r>
              <a:rPr sz="1800" b="1" spc="-114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4E5862"/>
                </a:solidFill>
                <a:latin typeface="Tahoma"/>
                <a:cs typeface="Tahoma"/>
              </a:rPr>
              <a:t>loss</a:t>
            </a:r>
            <a:endParaRPr sz="1800">
              <a:latin typeface="Tahoma"/>
              <a:cs typeface="Tahoma"/>
            </a:endParaRPr>
          </a:p>
          <a:p>
            <a:pPr marL="234950" marR="461009">
              <a:lnSpc>
                <a:spcPct val="129500"/>
              </a:lnSpc>
              <a:spcBef>
                <a:spcPts val="1270"/>
              </a:spcBef>
            </a:pP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Quality</a:t>
            </a:r>
            <a:r>
              <a:rPr sz="1400" spc="9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4E5862"/>
                </a:solidFill>
                <a:latin typeface="Tahoma"/>
                <a:cs typeface="Tahoma"/>
              </a:rPr>
              <a:t>of</a:t>
            </a:r>
            <a:r>
              <a:rPr sz="1400" spc="9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40" dirty="0">
                <a:solidFill>
                  <a:srgbClr val="4E5862"/>
                </a:solidFill>
                <a:latin typeface="Tahoma"/>
                <a:cs typeface="Tahoma"/>
              </a:rPr>
              <a:t>predicted </a:t>
            </a:r>
            <a:r>
              <a:rPr sz="1400" spc="10" dirty="0">
                <a:solidFill>
                  <a:srgbClr val="4E5862"/>
                </a:solidFill>
                <a:latin typeface="Tahoma"/>
                <a:cs typeface="Tahoma"/>
              </a:rPr>
              <a:t>probabilities;</a:t>
            </a:r>
            <a:r>
              <a:rPr sz="1400" spc="114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4E5862"/>
                </a:solidFill>
                <a:latin typeface="Tahoma"/>
                <a:cs typeface="Tahoma"/>
              </a:rPr>
              <a:t>lower</a:t>
            </a:r>
            <a:r>
              <a:rPr sz="1400" spc="12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4E5862"/>
                </a:solidFill>
                <a:latin typeface="Tahoma"/>
                <a:cs typeface="Tahoma"/>
              </a:rPr>
              <a:t>is</a:t>
            </a:r>
            <a:r>
              <a:rPr sz="1400" spc="12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E5862"/>
                </a:solidFill>
                <a:latin typeface="Tahoma"/>
                <a:cs typeface="Tahoma"/>
              </a:rPr>
              <a:t>better.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63221" y="2130425"/>
            <a:ext cx="2484755" cy="10720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800" dirty="0"/>
              <a:t>495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60" dirty="0">
                <a:solidFill>
                  <a:srgbClr val="4E5862"/>
                </a:solidFill>
                <a:latin typeface="Tahoma"/>
                <a:cs typeface="Tahoma"/>
              </a:rPr>
              <a:t>bankrupt</a:t>
            </a:r>
            <a:r>
              <a:rPr lang="en-IN" sz="2000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lang="en-IN" sz="2000" spc="90" dirty="0">
                <a:solidFill>
                  <a:srgbClr val="4E5862"/>
                </a:solidFill>
                <a:latin typeface="Tahoma"/>
                <a:cs typeface="Tahoma"/>
              </a:rPr>
              <a:t>companies</a:t>
            </a:r>
            <a:endParaRPr lang="en-IN" sz="20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362" y="3386137"/>
            <a:ext cx="3067050" cy="1514475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710"/>
              </a:spcBef>
            </a:pPr>
            <a:r>
              <a:rPr sz="1800" b="1" spc="-10" dirty="0">
                <a:solidFill>
                  <a:srgbClr val="4E5862"/>
                </a:solidFill>
                <a:latin typeface="Tahoma"/>
                <a:cs typeface="Tahoma"/>
              </a:rPr>
              <a:t>Precision</a:t>
            </a:r>
            <a:endParaRPr sz="1800">
              <a:latin typeface="Tahoma"/>
              <a:cs typeface="Tahoma"/>
            </a:endParaRPr>
          </a:p>
          <a:p>
            <a:pPr marL="233045" marR="725805">
              <a:lnSpc>
                <a:spcPct val="129500"/>
              </a:lnSpc>
              <a:spcBef>
                <a:spcPts val="1345"/>
              </a:spcBef>
            </a:pPr>
            <a:r>
              <a:rPr sz="1400" spc="75" dirty="0">
                <a:solidFill>
                  <a:srgbClr val="4E5862"/>
                </a:solidFill>
                <a:latin typeface="Tahoma"/>
                <a:cs typeface="Tahoma"/>
              </a:rPr>
              <a:t>Correctness</a:t>
            </a:r>
            <a:r>
              <a:rPr sz="1400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4E5862"/>
                </a:solidFill>
                <a:latin typeface="Tahoma"/>
                <a:cs typeface="Tahoma"/>
              </a:rPr>
              <a:t>of</a:t>
            </a:r>
            <a:r>
              <a:rPr sz="1400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40" dirty="0">
                <a:solidFill>
                  <a:srgbClr val="4E5862"/>
                </a:solidFill>
                <a:latin typeface="Tahoma"/>
                <a:cs typeface="Tahoma"/>
              </a:rPr>
              <a:t>predicted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bankrupt</a:t>
            </a:r>
            <a:r>
              <a:rPr sz="1400" spc="3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4E5862"/>
                </a:solidFill>
                <a:latin typeface="Tahoma"/>
                <a:cs typeface="Tahoma"/>
              </a:rPr>
              <a:t>cases.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3337" y="3386137"/>
            <a:ext cx="3067050" cy="1514475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710"/>
              </a:spcBef>
            </a:pPr>
            <a:r>
              <a:rPr sz="1800" b="1" spc="-10" dirty="0">
                <a:solidFill>
                  <a:srgbClr val="4E5862"/>
                </a:solidFill>
                <a:latin typeface="Tahoma"/>
                <a:cs typeface="Tahoma"/>
              </a:rPr>
              <a:t>Recall</a:t>
            </a:r>
            <a:endParaRPr sz="1800">
              <a:latin typeface="Tahoma"/>
              <a:cs typeface="Tahoma"/>
            </a:endParaRPr>
          </a:p>
          <a:p>
            <a:pPr marL="234950" marR="304165">
              <a:lnSpc>
                <a:spcPct val="129500"/>
              </a:lnSpc>
              <a:spcBef>
                <a:spcPts val="1345"/>
              </a:spcBef>
            </a:pP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Bankrupt</a:t>
            </a:r>
            <a:r>
              <a:rPr sz="1400" spc="1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4E5862"/>
                </a:solidFill>
                <a:latin typeface="Tahoma"/>
                <a:cs typeface="Tahoma"/>
              </a:rPr>
              <a:t>companies</a:t>
            </a:r>
            <a:r>
              <a:rPr sz="1400" spc="1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4E5862"/>
                </a:solidFill>
                <a:latin typeface="Tahoma"/>
                <a:cs typeface="Tahoma"/>
              </a:rPr>
              <a:t>detected </a:t>
            </a:r>
            <a:r>
              <a:rPr sz="1400" spc="50" dirty="0">
                <a:solidFill>
                  <a:srgbClr val="4E5862"/>
                </a:solidFill>
                <a:latin typeface="Tahoma"/>
                <a:cs typeface="Tahoma"/>
              </a:rPr>
              <a:t>among</a:t>
            </a:r>
            <a:r>
              <a:rPr sz="1400" spc="7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all</a:t>
            </a:r>
            <a:r>
              <a:rPr sz="1400" spc="7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E5862"/>
                </a:solidFill>
                <a:latin typeface="Tahoma"/>
                <a:cs typeface="Tahoma"/>
              </a:rPr>
              <a:t>actual</a:t>
            </a:r>
            <a:r>
              <a:rPr sz="1400" spc="7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E5862"/>
                </a:solidFill>
                <a:latin typeface="Tahoma"/>
                <a:cs typeface="Tahoma"/>
              </a:rPr>
              <a:t>bankrupt </a:t>
            </a:r>
            <a:r>
              <a:rPr sz="1400" spc="45" dirty="0">
                <a:solidFill>
                  <a:srgbClr val="4E5862"/>
                </a:solidFill>
                <a:latin typeface="Tahoma"/>
                <a:cs typeface="Tahoma"/>
              </a:rPr>
              <a:t>companies.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72349" y="3895724"/>
            <a:ext cx="4210050" cy="9525"/>
          </a:xfrm>
          <a:custGeom>
            <a:avLst/>
            <a:gdLst/>
            <a:ahLst/>
            <a:cxnLst/>
            <a:rect l="l" t="t" r="r" b="b"/>
            <a:pathLst>
              <a:path w="4210050" h="9525">
                <a:moveTo>
                  <a:pt x="4206602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5" y="7200"/>
                </a:lnTo>
                <a:lnTo>
                  <a:pt x="0" y="6077"/>
                </a:lnTo>
                <a:lnTo>
                  <a:pt x="0" y="4762"/>
                </a:lnTo>
                <a:lnTo>
                  <a:pt x="0" y="3447"/>
                </a:lnTo>
                <a:lnTo>
                  <a:pt x="465" y="2324"/>
                </a:lnTo>
                <a:lnTo>
                  <a:pt x="2324" y="464"/>
                </a:lnTo>
                <a:lnTo>
                  <a:pt x="3447" y="0"/>
                </a:lnTo>
                <a:lnTo>
                  <a:pt x="4206602" y="0"/>
                </a:lnTo>
                <a:lnTo>
                  <a:pt x="4207724" y="464"/>
                </a:lnTo>
                <a:lnTo>
                  <a:pt x="4209583" y="2324"/>
                </a:lnTo>
                <a:lnTo>
                  <a:pt x="4210049" y="3447"/>
                </a:lnTo>
                <a:lnTo>
                  <a:pt x="4210049" y="6077"/>
                </a:lnTo>
                <a:lnTo>
                  <a:pt x="4209583" y="7200"/>
                </a:lnTo>
                <a:lnTo>
                  <a:pt x="4207724" y="9059"/>
                </a:lnTo>
                <a:lnTo>
                  <a:pt x="4206602" y="9524"/>
                </a:lnTo>
                <a:close/>
              </a:path>
            </a:pathLst>
          </a:custGeom>
          <a:solidFill>
            <a:srgbClr val="D8D5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4362" y="5062537"/>
            <a:ext cx="3067050" cy="1247775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785"/>
              </a:spcBef>
            </a:pPr>
            <a:r>
              <a:rPr sz="1800" b="1" spc="-45" dirty="0">
                <a:solidFill>
                  <a:srgbClr val="4E5862"/>
                </a:solidFill>
                <a:latin typeface="Tahoma"/>
                <a:cs typeface="Tahoma"/>
              </a:rPr>
              <a:t>F1-</a:t>
            </a:r>
            <a:r>
              <a:rPr sz="1800" b="1" spc="-20" dirty="0">
                <a:solidFill>
                  <a:srgbClr val="4E5862"/>
                </a:solidFill>
                <a:latin typeface="Tahoma"/>
                <a:cs typeface="Tahoma"/>
              </a:rPr>
              <a:t>score</a:t>
            </a:r>
            <a:endParaRPr sz="1800">
              <a:latin typeface="Tahoma"/>
              <a:cs typeface="Tahoma"/>
            </a:endParaRPr>
          </a:p>
          <a:p>
            <a:pPr marL="233045" marR="560070">
              <a:lnSpc>
                <a:spcPct val="129500"/>
              </a:lnSpc>
              <a:spcBef>
                <a:spcPts val="1270"/>
              </a:spcBef>
            </a:pPr>
            <a:r>
              <a:rPr sz="1400" spc="60" dirty="0">
                <a:solidFill>
                  <a:srgbClr val="4E5862"/>
                </a:solidFill>
                <a:latin typeface="Tahoma"/>
                <a:cs typeface="Tahoma"/>
              </a:rPr>
              <a:t>Balance</a:t>
            </a:r>
            <a:r>
              <a:rPr sz="1400" spc="-2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4E5862"/>
                </a:solidFill>
                <a:latin typeface="Tahoma"/>
                <a:cs typeface="Tahoma"/>
              </a:rPr>
              <a:t>between</a:t>
            </a:r>
            <a:r>
              <a:rPr sz="1400" spc="-2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4E5862"/>
                </a:solidFill>
                <a:latin typeface="Tahoma"/>
                <a:cs typeface="Tahoma"/>
              </a:rPr>
              <a:t>precision </a:t>
            </a:r>
            <a:r>
              <a:rPr sz="1400" spc="50" dirty="0">
                <a:solidFill>
                  <a:srgbClr val="4E5862"/>
                </a:solidFill>
                <a:latin typeface="Tahoma"/>
                <a:cs typeface="Tahoma"/>
              </a:rPr>
              <a:t>and</a:t>
            </a:r>
            <a:r>
              <a:rPr sz="1400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E5862"/>
                </a:solidFill>
                <a:latin typeface="Tahoma"/>
                <a:cs typeface="Tahoma"/>
              </a:rPr>
              <a:t>recall.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3337" y="5062537"/>
            <a:ext cx="3067050" cy="1247775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785"/>
              </a:spcBef>
            </a:pPr>
            <a:r>
              <a:rPr sz="1800" b="1" spc="-10" dirty="0">
                <a:solidFill>
                  <a:srgbClr val="4E5862"/>
                </a:solidFill>
                <a:latin typeface="Tahoma"/>
                <a:cs typeface="Tahoma"/>
              </a:rPr>
              <a:t>Confusion</a:t>
            </a:r>
            <a:r>
              <a:rPr sz="1800" b="1" spc="-8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E5862"/>
                </a:solidFill>
                <a:latin typeface="Tahoma"/>
                <a:cs typeface="Tahoma"/>
              </a:rPr>
              <a:t>matrix</a:t>
            </a:r>
            <a:endParaRPr sz="1800">
              <a:latin typeface="Tahoma"/>
              <a:cs typeface="Tahoma"/>
            </a:endParaRPr>
          </a:p>
          <a:p>
            <a:pPr marL="234950" marR="254000">
              <a:lnSpc>
                <a:spcPct val="129500"/>
              </a:lnSpc>
              <a:spcBef>
                <a:spcPts val="1270"/>
              </a:spcBef>
            </a:pPr>
            <a:r>
              <a:rPr sz="1400" spc="90" dirty="0">
                <a:solidFill>
                  <a:srgbClr val="4E5862"/>
                </a:solidFill>
                <a:latin typeface="Tahoma"/>
                <a:cs typeface="Tahoma"/>
              </a:rPr>
              <a:t>Class-</a:t>
            </a:r>
            <a:r>
              <a:rPr sz="1400" spc="60" dirty="0">
                <a:solidFill>
                  <a:srgbClr val="4E5862"/>
                </a:solidFill>
                <a:latin typeface="Tahoma"/>
                <a:cs typeface="Tahoma"/>
              </a:rPr>
              <a:t>by-</a:t>
            </a:r>
            <a:r>
              <a:rPr sz="1400" spc="80" dirty="0">
                <a:solidFill>
                  <a:srgbClr val="4E5862"/>
                </a:solidFill>
                <a:latin typeface="Tahoma"/>
                <a:cs typeface="Tahoma"/>
              </a:rPr>
              <a:t>class</a:t>
            </a:r>
            <a:r>
              <a:rPr sz="1400" spc="-2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4E5862"/>
                </a:solidFill>
                <a:latin typeface="Tahoma"/>
                <a:cs typeface="Tahoma"/>
              </a:rPr>
              <a:t>view</a:t>
            </a:r>
            <a:r>
              <a:rPr sz="1400" spc="-2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4E5862"/>
                </a:solidFill>
                <a:latin typeface="Tahoma"/>
                <a:cs typeface="Tahoma"/>
              </a:rPr>
              <a:t>of</a:t>
            </a:r>
            <a:r>
              <a:rPr sz="1400" spc="-2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4E5862"/>
                </a:solidFill>
                <a:latin typeface="Tahoma"/>
                <a:cs typeface="Tahoma"/>
              </a:rPr>
              <a:t>correct </a:t>
            </a:r>
            <a:r>
              <a:rPr sz="1400" spc="50" dirty="0">
                <a:solidFill>
                  <a:srgbClr val="4E5862"/>
                </a:solidFill>
                <a:latin typeface="Tahoma"/>
                <a:cs typeface="Tahoma"/>
              </a:rPr>
              <a:t>and</a:t>
            </a:r>
            <a:r>
              <a:rPr sz="1400" spc="-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4E5862"/>
                </a:solidFill>
                <a:latin typeface="Tahoma"/>
                <a:cs typeface="Tahoma"/>
              </a:rPr>
              <a:t>incorrect</a:t>
            </a:r>
            <a:r>
              <a:rPr sz="1400" spc="-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400" spc="35" dirty="0">
                <a:solidFill>
                  <a:srgbClr val="4E5862"/>
                </a:solidFill>
                <a:latin typeface="Tahoma"/>
                <a:cs typeface="Tahoma"/>
              </a:rPr>
              <a:t>predictions.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63221" y="4283075"/>
            <a:ext cx="4109085" cy="14927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800" dirty="0"/>
              <a:t>10,008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0" dirty="0">
                <a:solidFill>
                  <a:srgbClr val="4E5862"/>
                </a:solidFill>
                <a:latin typeface="Tahoma"/>
                <a:cs typeface="Tahoma"/>
              </a:rPr>
              <a:t>non-</a:t>
            </a:r>
            <a:r>
              <a:rPr sz="2000" spc="60" dirty="0">
                <a:solidFill>
                  <a:srgbClr val="4E5862"/>
                </a:solidFill>
                <a:latin typeface="Tahoma"/>
                <a:cs typeface="Tahoma"/>
              </a:rPr>
              <a:t>bankrupt</a:t>
            </a:r>
            <a:r>
              <a:rPr sz="2000" spc="-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90" dirty="0">
                <a:solidFill>
                  <a:srgbClr val="4E5862"/>
                </a:solidFill>
                <a:latin typeface="Tahoma"/>
                <a:cs typeface="Tahoma"/>
              </a:rPr>
              <a:t>companies</a:t>
            </a: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1400" spc="70" dirty="0">
                <a:solidFill>
                  <a:srgbClr val="67737C"/>
                </a:solidFill>
                <a:latin typeface="Tahoma"/>
                <a:cs typeface="Tahoma"/>
              </a:rPr>
              <a:t>Minority-</a:t>
            </a:r>
            <a:r>
              <a:rPr sz="1400" spc="90" dirty="0">
                <a:solidFill>
                  <a:srgbClr val="67737C"/>
                </a:solidFill>
                <a:latin typeface="Tahoma"/>
                <a:cs typeface="Tahoma"/>
              </a:rPr>
              <a:t>class</a:t>
            </a:r>
            <a:r>
              <a:rPr sz="1400" spc="15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67737C"/>
                </a:solidFill>
                <a:latin typeface="Tahoma"/>
                <a:cs typeface="Tahoma"/>
              </a:rPr>
              <a:t>recall</a:t>
            </a:r>
            <a:r>
              <a:rPr sz="1400" spc="15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67737C"/>
                </a:solidFill>
                <a:latin typeface="Tahoma"/>
                <a:cs typeface="Tahoma"/>
              </a:rPr>
              <a:t>is</a:t>
            </a:r>
            <a:r>
              <a:rPr sz="1400" spc="2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7737C"/>
                </a:solidFill>
                <a:latin typeface="Tahoma"/>
                <a:cs typeface="Tahoma"/>
              </a:rPr>
              <a:t>the</a:t>
            </a:r>
            <a:r>
              <a:rPr sz="1400" spc="15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67737C"/>
                </a:solidFill>
                <a:latin typeface="Tahoma"/>
                <a:cs typeface="Tahoma"/>
              </a:rPr>
              <a:t>critical</a:t>
            </a:r>
            <a:r>
              <a:rPr sz="1400" spc="15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67737C"/>
                </a:solidFill>
                <a:latin typeface="Tahoma"/>
                <a:cs typeface="Tahoma"/>
              </a:rPr>
              <a:t>reality</a:t>
            </a:r>
            <a:r>
              <a:rPr sz="1400" spc="2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67737C"/>
                </a:solidFill>
                <a:latin typeface="Tahoma"/>
                <a:cs typeface="Tahoma"/>
              </a:rPr>
              <a:t>check.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47647" y="6452851"/>
            <a:ext cx="336550" cy="1949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0</a:t>
            </a:r>
            <a:r>
              <a:rPr sz="1050" spc="-155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 </a:t>
            </a:r>
            <a:fld id="{81D60167-4931-47E6-BA6A-407CBD079E47}" type="slidenum">
              <a:rPr sz="1050" spc="-6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7</a:t>
            </a:fld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899" y="596900"/>
            <a:ext cx="772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45" dirty="0">
                <a:solidFill>
                  <a:srgbClr val="3D5C73"/>
                </a:solidFill>
                <a:latin typeface="Tahoma"/>
                <a:cs typeface="Tahoma"/>
              </a:rPr>
              <a:t>RESULTS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6899" y="863600"/>
            <a:ext cx="993267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Random Forest was the strongest extension</a:t>
            </a:r>
            <a:endParaRPr spc="-20" dirty="0"/>
          </a:p>
        </p:txBody>
      </p:sp>
      <p:sp>
        <p:nvSpPr>
          <p:cNvPr id="4" name="object 4"/>
          <p:cNvSpPr/>
          <p:nvPr/>
        </p:nvSpPr>
        <p:spPr>
          <a:xfrm>
            <a:off x="609599" y="1666874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10969351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4762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10969351" y="0"/>
                </a:lnTo>
                <a:lnTo>
                  <a:pt x="10970473" y="464"/>
                </a:lnTo>
                <a:lnTo>
                  <a:pt x="10972332" y="2324"/>
                </a:lnTo>
                <a:lnTo>
                  <a:pt x="10972798" y="3447"/>
                </a:lnTo>
                <a:lnTo>
                  <a:pt x="10972798" y="6077"/>
                </a:lnTo>
                <a:lnTo>
                  <a:pt x="10972332" y="7200"/>
                </a:lnTo>
                <a:lnTo>
                  <a:pt x="10970473" y="9060"/>
                </a:lnTo>
                <a:lnTo>
                  <a:pt x="10969351" y="9524"/>
                </a:lnTo>
                <a:close/>
              </a:path>
            </a:pathLst>
          </a:custGeom>
          <a:solidFill>
            <a:srgbClr val="173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6899" y="1909445"/>
            <a:ext cx="10932795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499"/>
              </a:lnSpc>
              <a:spcBef>
                <a:spcPts val="100"/>
              </a:spcBef>
            </a:pPr>
            <a:r>
              <a:rPr sz="1800" b="1" spc="-60" dirty="0">
                <a:solidFill>
                  <a:srgbClr val="4E5862"/>
                </a:solidFill>
                <a:latin typeface="Tahoma"/>
                <a:cs typeface="Tahoma"/>
              </a:rPr>
              <a:t>Random</a:t>
            </a:r>
            <a:r>
              <a:rPr sz="1800" b="1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spc="-35" dirty="0">
                <a:solidFill>
                  <a:srgbClr val="4E5862"/>
                </a:solidFill>
                <a:latin typeface="Tahoma"/>
                <a:cs typeface="Tahoma"/>
              </a:rPr>
              <a:t>Forest</a:t>
            </a:r>
            <a:r>
              <a:rPr sz="1800" b="1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4E5862"/>
                </a:solidFill>
                <a:latin typeface="Tahoma"/>
                <a:cs typeface="Tahoma"/>
              </a:rPr>
              <a:t>achieved</a:t>
            </a:r>
            <a:r>
              <a:rPr sz="1800" b="1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spc="-55" dirty="0">
                <a:solidFill>
                  <a:srgbClr val="4E5862"/>
                </a:solidFill>
                <a:latin typeface="Tahoma"/>
                <a:cs typeface="Tahoma"/>
              </a:rPr>
              <a:t>the</a:t>
            </a:r>
            <a:r>
              <a:rPr sz="1800" b="1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4E5862"/>
                </a:solidFill>
                <a:latin typeface="Tahoma"/>
                <a:cs typeface="Tahoma"/>
              </a:rPr>
              <a:t>highest</a:t>
            </a:r>
            <a:r>
              <a:rPr sz="1800" b="1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E5862"/>
                </a:solidFill>
                <a:latin typeface="Tahoma"/>
                <a:cs typeface="Tahoma"/>
              </a:rPr>
              <a:t>observed</a:t>
            </a:r>
            <a:r>
              <a:rPr sz="1800" b="1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spc="-45" dirty="0">
                <a:solidFill>
                  <a:srgbClr val="4E5862"/>
                </a:solidFill>
                <a:latin typeface="Tahoma"/>
                <a:cs typeface="Tahoma"/>
              </a:rPr>
              <a:t>test</a:t>
            </a:r>
            <a:r>
              <a:rPr sz="1800" b="1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E5862"/>
                </a:solidFill>
                <a:latin typeface="Tahoma"/>
                <a:cs typeface="Tahoma"/>
              </a:rPr>
              <a:t>accuracy</a:t>
            </a:r>
            <a:r>
              <a:rPr sz="1800" b="1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spc="-30" dirty="0">
                <a:solidFill>
                  <a:srgbClr val="4E5862"/>
                </a:solidFill>
                <a:latin typeface="Tahoma"/>
                <a:cs typeface="Tahoma"/>
              </a:rPr>
              <a:t>and</a:t>
            </a:r>
            <a:r>
              <a:rPr sz="1800" b="1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E5862"/>
                </a:solidFill>
                <a:latin typeface="Tahoma"/>
                <a:cs typeface="Tahoma"/>
              </a:rPr>
              <a:t>cross-</a:t>
            </a:r>
            <a:r>
              <a:rPr sz="1800" b="1" spc="-40" dirty="0">
                <a:solidFill>
                  <a:srgbClr val="4E5862"/>
                </a:solidFill>
                <a:latin typeface="Tahoma"/>
                <a:cs typeface="Tahoma"/>
              </a:rPr>
              <a:t>validation </a:t>
            </a:r>
            <a:r>
              <a:rPr sz="1800" b="1" dirty="0">
                <a:solidFill>
                  <a:srgbClr val="4E5862"/>
                </a:solidFill>
                <a:latin typeface="Tahoma"/>
                <a:cs typeface="Tahoma"/>
              </a:rPr>
              <a:t>accuracy</a:t>
            </a:r>
            <a:r>
              <a:rPr sz="1800" b="1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4E5862"/>
                </a:solidFill>
                <a:latin typeface="Tahoma"/>
                <a:cs typeface="Tahoma"/>
              </a:rPr>
              <a:t>in</a:t>
            </a:r>
            <a:r>
              <a:rPr sz="1800" b="1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4E5862"/>
                </a:solidFill>
                <a:latin typeface="Tahoma"/>
                <a:cs typeface="Tahoma"/>
              </a:rPr>
              <a:t>this </a:t>
            </a:r>
            <a:r>
              <a:rPr sz="1800" b="1" spc="-10" dirty="0">
                <a:solidFill>
                  <a:srgbClr val="4E5862"/>
                </a:solidFill>
                <a:latin typeface="Tahoma"/>
                <a:cs typeface="Tahoma"/>
              </a:rPr>
              <a:t>experiment.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691169"/>
              </p:ext>
            </p:extLst>
          </p:nvPr>
        </p:nvGraphicFramePr>
        <p:xfrm>
          <a:off x="609599" y="3033712"/>
          <a:ext cx="10974705" cy="367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2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4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marL="24765">
                        <a:lnSpc>
                          <a:spcPts val="1405"/>
                        </a:lnSpc>
                      </a:pPr>
                      <a:r>
                        <a:rPr sz="1200" spc="75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MODEL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525">
                      <a:solidFill>
                        <a:srgbClr val="173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9605">
                        <a:lnSpc>
                          <a:spcPts val="1405"/>
                        </a:lnSpc>
                      </a:pPr>
                      <a:r>
                        <a:rPr sz="1200" spc="8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TEST</a:t>
                      </a:r>
                      <a:r>
                        <a:rPr sz="1200" spc="14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11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ACCURACY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525">
                      <a:solidFill>
                        <a:srgbClr val="173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405"/>
                        </a:lnSpc>
                      </a:pPr>
                      <a:r>
                        <a:rPr sz="1200" spc="8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TEST</a:t>
                      </a:r>
                      <a:r>
                        <a:rPr sz="1200" spc="21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LOG</a:t>
                      </a:r>
                      <a:r>
                        <a:rPr sz="1200" spc="215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LOSS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525">
                      <a:solidFill>
                        <a:srgbClr val="173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ts val="1405"/>
                        </a:lnSpc>
                      </a:pPr>
                      <a:r>
                        <a:rPr sz="1200" spc="9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CV</a:t>
                      </a:r>
                      <a:r>
                        <a:rPr sz="1200" spc="14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11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ACCURACY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525">
                      <a:solidFill>
                        <a:srgbClr val="173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1405"/>
                        </a:lnSpc>
                      </a:pPr>
                      <a:r>
                        <a:rPr sz="1200" spc="9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CV</a:t>
                      </a:r>
                      <a:r>
                        <a:rPr sz="1200" spc="204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LOG</a:t>
                      </a:r>
                      <a:r>
                        <a:rPr sz="1200" spc="21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LOSS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525">
                      <a:solidFill>
                        <a:srgbClr val="17324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500" spc="7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Logistic</a:t>
                      </a:r>
                      <a:r>
                        <a:rPr sz="1500" spc="-2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5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Regression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17324A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960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95.10%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17324A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500" spc="5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0.222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17324A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95.12%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17324A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0.219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17324A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125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SVM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96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95.29%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0.190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95.29%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0.190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55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Neural</a:t>
                      </a:r>
                      <a:r>
                        <a:rPr sz="1500" spc="-4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6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Network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96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95.29%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0.189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95.29%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0.188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500" spc="5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Bernoulli</a:t>
                      </a:r>
                      <a:r>
                        <a:rPr sz="1500" spc="-35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65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Naive</a:t>
                      </a:r>
                      <a:r>
                        <a:rPr sz="1500" spc="-35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6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Bayes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960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76.39%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500" spc="45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2.326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76.44%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500" spc="7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2.442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65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XGBoost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96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95.29%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0.178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95.29%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0.175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65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LightGBM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96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95.29%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0.178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95.29%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0.174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695"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lang="en-IN" sz="1600" dirty="0"/>
                        <a:t>Random Forest — Extension</a:t>
                      </a:r>
                      <a:endParaRPr sz="1500" dirty="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D8D5CD"/>
                      </a:solidFill>
                      <a:prstDash val="solid"/>
                    </a:lnT>
                    <a:solidFill>
                      <a:srgbClr val="E3F0EC"/>
                    </a:solidFill>
                  </a:tcPr>
                </a:tc>
                <a:tc>
                  <a:txBody>
                    <a:bodyPr/>
                    <a:lstStyle/>
                    <a:p>
                      <a:pPr marL="64960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500" b="1" spc="-10" dirty="0">
                          <a:latin typeface="Tahoma"/>
                          <a:cs typeface="Tahoma"/>
                        </a:rPr>
                        <a:t>95.86%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D8D5CD"/>
                      </a:solidFill>
                      <a:prstDash val="solid"/>
                    </a:lnT>
                    <a:solidFill>
                      <a:srgbClr val="E3F0EC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500" spc="-10" dirty="0">
                          <a:latin typeface="Tahoma"/>
                          <a:cs typeface="Tahoma"/>
                        </a:rPr>
                        <a:t>0.190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D8D5CD"/>
                      </a:solidFill>
                      <a:prstDash val="solid"/>
                    </a:lnT>
                    <a:solidFill>
                      <a:srgbClr val="E3F0EC"/>
                    </a:solidFill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500" b="1" spc="-10" dirty="0">
                          <a:latin typeface="Tahoma"/>
                          <a:cs typeface="Tahoma"/>
                        </a:rPr>
                        <a:t>96.03%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D8D5CD"/>
                      </a:solidFill>
                      <a:prstDash val="solid"/>
                    </a:lnT>
                    <a:solidFill>
                      <a:srgbClr val="E3F0EC"/>
                    </a:solidFill>
                  </a:tcPr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ct val="100000"/>
                        </a:lnSpc>
                        <a:spcBef>
                          <a:spcPts val="935"/>
                        </a:spcBef>
                        <a:tabLst>
                          <a:tab pos="1895475" algn="l"/>
                        </a:tabLst>
                      </a:pPr>
                      <a:r>
                        <a:rPr sz="1500" spc="-10" dirty="0">
                          <a:latin typeface="Tahoma"/>
                          <a:cs typeface="Tahoma"/>
                        </a:rPr>
                        <a:t>0.171</a:t>
                      </a:r>
                      <a:r>
                        <a:rPr sz="1500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1650" baseline="-22727" dirty="0">
                          <a:solidFill>
                            <a:srgbClr val="17324A"/>
                          </a:solidFill>
                          <a:latin typeface="Verdana"/>
                          <a:cs typeface="Verdana"/>
                          <a:hlinkClick r:id="rId2"/>
                        </a:rPr>
                        <a:t>0</a:t>
                      </a:r>
                      <a:r>
                        <a:rPr sz="1650" spc="-277" baseline="-22727" dirty="0">
                          <a:solidFill>
                            <a:srgbClr val="17324A"/>
                          </a:solidFill>
                          <a:latin typeface="Verdana"/>
                          <a:cs typeface="Verdana"/>
                          <a:hlinkClick r:id="rId2"/>
                        </a:rPr>
                        <a:t> </a:t>
                      </a:r>
                      <a:r>
                        <a:rPr sz="1650" spc="-75" baseline="-22727" dirty="0">
                          <a:solidFill>
                            <a:srgbClr val="17324A"/>
                          </a:solidFill>
                          <a:latin typeface="Verdana"/>
                          <a:cs typeface="Verdana"/>
                          <a:hlinkClick r:id="rId2"/>
                        </a:rPr>
                        <a:t>8</a:t>
                      </a:r>
                      <a:endParaRPr sz="1650" baseline="-22727" dirty="0">
                        <a:latin typeface="Verdana"/>
                        <a:cs typeface="Verdan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D8D5CD"/>
                      </a:solidFill>
                      <a:prstDash val="solid"/>
                    </a:lnT>
                    <a:solidFill>
                      <a:srgbClr val="E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4246-07B6-1FFF-FEE4-74DE3FE0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851A0-53BB-BF88-357B-EDFB3288C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06267-042E-D70A-0915-7DE9AF8F3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7" y="0"/>
            <a:ext cx="12075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89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899" y="596900"/>
            <a:ext cx="772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45" dirty="0">
                <a:solidFill>
                  <a:srgbClr val="3D5C73"/>
                </a:solidFill>
                <a:latin typeface="Tahoma"/>
                <a:cs typeface="Tahoma"/>
              </a:rPr>
              <a:t>RESULTS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6899" y="863600"/>
            <a:ext cx="93135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Random</a:t>
            </a:r>
            <a:r>
              <a:rPr spc="-114" dirty="0"/>
              <a:t> </a:t>
            </a:r>
            <a:r>
              <a:rPr spc="-90" dirty="0"/>
              <a:t>Forest</a:t>
            </a:r>
            <a:r>
              <a:rPr spc="-114" dirty="0"/>
              <a:t> </a:t>
            </a:r>
            <a:r>
              <a:rPr spc="-75" dirty="0"/>
              <a:t>was</a:t>
            </a:r>
            <a:r>
              <a:rPr spc="-114" dirty="0"/>
              <a:t> </a:t>
            </a:r>
            <a:r>
              <a:rPr spc="-120" dirty="0"/>
              <a:t>the</a:t>
            </a:r>
            <a:r>
              <a:rPr spc="-114" dirty="0"/>
              <a:t> </a:t>
            </a:r>
            <a:r>
              <a:rPr spc="-85" dirty="0"/>
              <a:t>strongest</a:t>
            </a:r>
            <a:r>
              <a:rPr spc="-114" dirty="0"/>
              <a:t> </a:t>
            </a:r>
            <a:r>
              <a:rPr spc="-110" dirty="0"/>
              <a:t>overall</a:t>
            </a:r>
            <a:r>
              <a:rPr spc="-114" dirty="0"/>
              <a:t> </a:t>
            </a:r>
            <a:r>
              <a:rPr spc="-40" dirty="0"/>
              <a:t>extension</a:t>
            </a:r>
          </a:p>
        </p:txBody>
      </p:sp>
      <p:sp>
        <p:nvSpPr>
          <p:cNvPr id="4" name="object 4"/>
          <p:cNvSpPr/>
          <p:nvPr/>
        </p:nvSpPr>
        <p:spPr>
          <a:xfrm>
            <a:off x="609599" y="1714499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10969351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4762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10969351" y="0"/>
                </a:lnTo>
                <a:lnTo>
                  <a:pt x="10970473" y="464"/>
                </a:lnTo>
                <a:lnTo>
                  <a:pt x="10972332" y="2324"/>
                </a:lnTo>
                <a:lnTo>
                  <a:pt x="10972798" y="3447"/>
                </a:lnTo>
                <a:lnTo>
                  <a:pt x="10972798" y="6077"/>
                </a:lnTo>
                <a:lnTo>
                  <a:pt x="10972332" y="7200"/>
                </a:lnTo>
                <a:lnTo>
                  <a:pt x="10970473" y="9059"/>
                </a:lnTo>
                <a:lnTo>
                  <a:pt x="10969351" y="9524"/>
                </a:lnTo>
                <a:close/>
              </a:path>
            </a:pathLst>
          </a:custGeom>
          <a:solidFill>
            <a:srgbClr val="173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6899" y="2009762"/>
            <a:ext cx="6839584" cy="12065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29700"/>
              </a:lnSpc>
              <a:spcBef>
                <a:spcPts val="60"/>
              </a:spcBef>
            </a:pPr>
            <a:r>
              <a:rPr sz="2000" spc="70" dirty="0">
                <a:solidFill>
                  <a:srgbClr val="4E5862"/>
                </a:solidFill>
                <a:latin typeface="Tahoma"/>
                <a:cs typeface="Tahoma"/>
              </a:rPr>
              <a:t>Multiple</a:t>
            </a:r>
            <a:r>
              <a:rPr sz="20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95" dirty="0">
                <a:solidFill>
                  <a:srgbClr val="4E5862"/>
                </a:solidFill>
                <a:latin typeface="Tahoma"/>
                <a:cs typeface="Tahoma"/>
              </a:rPr>
              <a:t>decision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4E5862"/>
                </a:solidFill>
                <a:latin typeface="Tahoma"/>
                <a:cs typeface="Tahoma"/>
              </a:rPr>
              <a:t>trees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114" dirty="0">
                <a:solidFill>
                  <a:srgbClr val="4E5862"/>
                </a:solidFill>
                <a:latin typeface="Tahoma"/>
                <a:cs typeface="Tahoma"/>
              </a:rPr>
              <a:t>can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4E5862"/>
                </a:solidFill>
                <a:latin typeface="Tahoma"/>
                <a:cs typeface="Tahoma"/>
              </a:rPr>
              <a:t>model</a:t>
            </a:r>
            <a:r>
              <a:rPr sz="2000" spc="-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4E5862"/>
                </a:solidFill>
                <a:latin typeface="Tahoma"/>
                <a:cs typeface="Tahoma"/>
              </a:rPr>
              <a:t>nonlinear</a:t>
            </a:r>
            <a:r>
              <a:rPr sz="2000" spc="-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E5862"/>
                </a:solidFill>
                <a:latin typeface="Tahoma"/>
                <a:cs typeface="Tahoma"/>
              </a:rPr>
              <a:t>relationships </a:t>
            </a:r>
            <a:r>
              <a:rPr sz="2000" spc="65" dirty="0">
                <a:solidFill>
                  <a:srgbClr val="4E5862"/>
                </a:solidFill>
                <a:latin typeface="Tahoma"/>
                <a:cs typeface="Tahoma"/>
              </a:rPr>
              <a:t>while</a:t>
            </a:r>
            <a:r>
              <a:rPr sz="2000" spc="-3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E5862"/>
                </a:solidFill>
                <a:latin typeface="Tahoma"/>
                <a:cs typeface="Tahoma"/>
              </a:rPr>
              <a:t>remaining</a:t>
            </a:r>
            <a:r>
              <a:rPr sz="2000" spc="-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4E5862"/>
                </a:solidFill>
                <a:latin typeface="Tahoma"/>
                <a:cs typeface="Tahoma"/>
              </a:rPr>
              <a:t>robust</a:t>
            </a:r>
            <a:r>
              <a:rPr sz="2000" spc="-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4E5862"/>
                </a:solidFill>
                <a:latin typeface="Tahoma"/>
                <a:cs typeface="Tahoma"/>
              </a:rPr>
              <a:t>across</a:t>
            </a:r>
            <a:r>
              <a:rPr sz="2000" spc="-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E5862"/>
                </a:solidFill>
                <a:latin typeface="Tahoma"/>
                <a:cs typeface="Tahoma"/>
              </a:rPr>
              <a:t>the</a:t>
            </a:r>
            <a:r>
              <a:rPr sz="2000" spc="-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95" dirty="0">
                <a:solidFill>
                  <a:srgbClr val="4E5862"/>
                </a:solidFill>
                <a:latin typeface="Tahoma"/>
                <a:cs typeface="Tahoma"/>
              </a:rPr>
              <a:t>same</a:t>
            </a:r>
            <a:r>
              <a:rPr sz="2000" spc="-3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4E5862"/>
                </a:solidFill>
                <a:latin typeface="Tahoma"/>
                <a:cs typeface="Tahoma"/>
              </a:rPr>
              <a:t>financial</a:t>
            </a:r>
            <a:r>
              <a:rPr sz="2000" spc="-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4E5862"/>
                </a:solidFill>
                <a:latin typeface="Tahoma"/>
                <a:cs typeface="Tahoma"/>
              </a:rPr>
              <a:t>feature </a:t>
            </a:r>
            <a:r>
              <a:rPr sz="2000" spc="95" dirty="0">
                <a:solidFill>
                  <a:srgbClr val="4E5862"/>
                </a:solidFill>
                <a:latin typeface="Tahoma"/>
                <a:cs typeface="Tahoma"/>
              </a:rPr>
              <a:t>space.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4362" y="4557712"/>
            <a:ext cx="3448050" cy="1685925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200">
              <a:latin typeface="Times New Roman"/>
              <a:cs typeface="Times New Roman"/>
            </a:endParaRPr>
          </a:p>
          <a:p>
            <a:pPr marL="360045">
              <a:lnSpc>
                <a:spcPct val="100000"/>
              </a:lnSpc>
            </a:pPr>
            <a:r>
              <a:rPr sz="1200" b="1" spc="90" dirty="0">
                <a:solidFill>
                  <a:srgbClr val="4E5862"/>
                </a:solidFill>
                <a:latin typeface="Tahoma"/>
                <a:cs typeface="Tahoma"/>
              </a:rPr>
              <a:t>TEST</a:t>
            </a:r>
            <a:r>
              <a:rPr sz="1200" b="1" spc="15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200" b="1" spc="90" dirty="0">
                <a:solidFill>
                  <a:srgbClr val="4E5862"/>
                </a:solidFill>
                <a:latin typeface="Tahoma"/>
                <a:cs typeface="Tahoma"/>
              </a:rPr>
              <a:t>ACCURACY</a:t>
            </a:r>
            <a:endParaRPr sz="1200">
              <a:latin typeface="Tahoma"/>
              <a:cs typeface="Tahoma"/>
            </a:endParaRPr>
          </a:p>
          <a:p>
            <a:pPr marL="360045">
              <a:lnSpc>
                <a:spcPct val="100000"/>
              </a:lnSpc>
              <a:spcBef>
                <a:spcPts val="285"/>
              </a:spcBef>
            </a:pPr>
            <a:r>
              <a:rPr sz="4800" b="1" spc="-50" dirty="0">
                <a:solidFill>
                  <a:srgbClr val="297E7B"/>
                </a:solidFill>
                <a:latin typeface="Tahoma"/>
                <a:cs typeface="Tahoma"/>
              </a:rPr>
              <a:t>95.86%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76737" y="4557712"/>
            <a:ext cx="3438525" cy="1685925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2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</a:pPr>
            <a:r>
              <a:rPr sz="1200" b="1" spc="90" dirty="0">
                <a:solidFill>
                  <a:srgbClr val="4E5862"/>
                </a:solidFill>
                <a:latin typeface="Tahoma"/>
                <a:cs typeface="Tahoma"/>
              </a:rPr>
              <a:t>CROSS-</a:t>
            </a:r>
            <a:r>
              <a:rPr sz="1200" b="1" dirty="0">
                <a:solidFill>
                  <a:srgbClr val="4E5862"/>
                </a:solidFill>
                <a:latin typeface="Tahoma"/>
                <a:cs typeface="Tahoma"/>
              </a:rPr>
              <a:t>VALIDATION</a:t>
            </a:r>
            <a:r>
              <a:rPr sz="1200" b="1" spc="36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200" b="1" spc="90" dirty="0">
                <a:solidFill>
                  <a:srgbClr val="4E5862"/>
                </a:solidFill>
                <a:latin typeface="Tahoma"/>
                <a:cs typeface="Tahoma"/>
              </a:rPr>
              <a:t>ACCURACY</a:t>
            </a:r>
            <a:endParaRPr sz="1200">
              <a:latin typeface="Tahoma"/>
              <a:cs typeface="Tahoma"/>
            </a:endParaRPr>
          </a:p>
          <a:p>
            <a:pPr marL="356870">
              <a:lnSpc>
                <a:spcPct val="100000"/>
              </a:lnSpc>
              <a:spcBef>
                <a:spcPts val="285"/>
              </a:spcBef>
            </a:pPr>
            <a:r>
              <a:rPr sz="4800" b="1" spc="-50" dirty="0">
                <a:solidFill>
                  <a:srgbClr val="297E7B"/>
                </a:solidFill>
                <a:latin typeface="Tahoma"/>
                <a:cs typeface="Tahoma"/>
              </a:rPr>
              <a:t>96.03%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9586" y="4557712"/>
            <a:ext cx="3448050" cy="1369606"/>
          </a:xfrm>
          <a:prstGeom prst="rect">
            <a:avLst/>
          </a:prstGeom>
          <a:ln w="9524">
            <a:solidFill>
              <a:srgbClr val="D8D5C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363220">
              <a:lnSpc>
                <a:spcPct val="100000"/>
              </a:lnSpc>
            </a:pPr>
            <a:r>
              <a:rPr sz="1200" b="1" spc="90" dirty="0">
                <a:solidFill>
                  <a:srgbClr val="4E5862"/>
                </a:solidFill>
                <a:latin typeface="Tahoma"/>
                <a:cs typeface="Tahoma"/>
              </a:rPr>
              <a:t>CROSS-</a:t>
            </a:r>
            <a:r>
              <a:rPr sz="1200" b="1" dirty="0">
                <a:solidFill>
                  <a:srgbClr val="4E5862"/>
                </a:solidFill>
                <a:latin typeface="Tahoma"/>
                <a:cs typeface="Tahoma"/>
              </a:rPr>
              <a:t>VALIDATION</a:t>
            </a:r>
            <a:r>
              <a:rPr sz="1200" b="1" spc="31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4E5862"/>
                </a:solidFill>
                <a:latin typeface="Tahoma"/>
                <a:cs typeface="Tahoma"/>
              </a:rPr>
              <a:t>LOG</a:t>
            </a:r>
            <a:r>
              <a:rPr sz="1200" b="1" spc="31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200" b="1" spc="40" dirty="0">
                <a:solidFill>
                  <a:srgbClr val="4E5862"/>
                </a:solidFill>
                <a:latin typeface="Tahoma"/>
                <a:cs typeface="Tahoma"/>
              </a:rPr>
              <a:t>LOSS</a:t>
            </a:r>
            <a:endParaRPr sz="1200" dirty="0">
              <a:latin typeface="Tahoma"/>
              <a:cs typeface="Tahoma"/>
            </a:endParaRPr>
          </a:p>
          <a:p>
            <a:pPr marL="363220">
              <a:lnSpc>
                <a:spcPct val="100000"/>
              </a:lnSpc>
              <a:spcBef>
                <a:spcPts val="285"/>
              </a:spcBef>
            </a:pPr>
            <a:r>
              <a:rPr lang="en-IN" sz="4800" dirty="0"/>
              <a:t>0.171</a:t>
            </a:r>
            <a:endParaRPr sz="48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41248" y="6452851"/>
            <a:ext cx="229235" cy="19494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0</a:t>
            </a:r>
            <a:r>
              <a:rPr sz="1100" spc="-185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 </a:t>
            </a:r>
            <a:r>
              <a:rPr sz="1100" spc="-5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9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899" y="596900"/>
            <a:ext cx="1956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5" dirty="0">
                <a:solidFill>
                  <a:srgbClr val="3D5C73"/>
                </a:solidFill>
                <a:latin typeface="Tahoma"/>
                <a:cs typeface="Tahoma"/>
              </a:rPr>
              <a:t>RESULTS</a:t>
            </a:r>
            <a:r>
              <a:rPr sz="1200" b="1" spc="114" dirty="0">
                <a:solidFill>
                  <a:srgbClr val="3D5C73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3D5C73"/>
                </a:solidFill>
                <a:latin typeface="Tahoma"/>
                <a:cs typeface="Tahoma"/>
              </a:rPr>
              <a:t>·</a:t>
            </a:r>
            <a:r>
              <a:rPr sz="1200" b="1" spc="120" dirty="0">
                <a:solidFill>
                  <a:srgbClr val="3D5C73"/>
                </a:solidFill>
                <a:latin typeface="Tahoma"/>
                <a:cs typeface="Tahoma"/>
              </a:rPr>
              <a:t> </a:t>
            </a:r>
            <a:r>
              <a:rPr sz="1200" b="1" spc="55" dirty="0">
                <a:solidFill>
                  <a:srgbClr val="3D5C73"/>
                </a:solidFill>
                <a:latin typeface="Tahoma"/>
                <a:cs typeface="Tahoma"/>
              </a:rPr>
              <a:t>IMBALANCE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6899" y="863600"/>
            <a:ext cx="856678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dirty="0"/>
              <a:t>Balancing the forest improved precision, but not recall</a:t>
            </a:r>
            <a:endParaRPr sz="2800" spc="-10" dirty="0"/>
          </a:p>
        </p:txBody>
      </p:sp>
      <p:sp>
        <p:nvSpPr>
          <p:cNvPr id="4" name="object 4"/>
          <p:cNvSpPr/>
          <p:nvPr/>
        </p:nvSpPr>
        <p:spPr>
          <a:xfrm>
            <a:off x="609599" y="1666874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10969351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4762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10969351" y="0"/>
                </a:lnTo>
                <a:lnTo>
                  <a:pt x="10970473" y="464"/>
                </a:lnTo>
                <a:lnTo>
                  <a:pt x="10972332" y="2324"/>
                </a:lnTo>
                <a:lnTo>
                  <a:pt x="10972798" y="3447"/>
                </a:lnTo>
                <a:lnTo>
                  <a:pt x="10972798" y="6077"/>
                </a:lnTo>
                <a:lnTo>
                  <a:pt x="10972332" y="7200"/>
                </a:lnTo>
                <a:lnTo>
                  <a:pt x="10970473" y="9060"/>
                </a:lnTo>
                <a:lnTo>
                  <a:pt x="10969351" y="9524"/>
                </a:lnTo>
                <a:close/>
              </a:path>
            </a:pathLst>
          </a:custGeom>
          <a:solidFill>
            <a:srgbClr val="173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6899" y="1854200"/>
            <a:ext cx="3390265" cy="330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1" spc="-565" dirty="0">
                <a:solidFill>
                  <a:srgbClr val="297E7B"/>
                </a:solidFill>
                <a:latin typeface="Tahoma"/>
                <a:cs typeface="Tahoma"/>
              </a:rPr>
              <a:t>89%</a:t>
            </a:r>
            <a:endParaRPr sz="7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2000" spc="60" dirty="0">
                <a:solidFill>
                  <a:srgbClr val="4E5862"/>
                </a:solidFill>
                <a:latin typeface="Tahoma"/>
                <a:cs typeface="Tahoma"/>
              </a:rPr>
              <a:t>bankrupt</a:t>
            </a:r>
            <a:r>
              <a:rPr sz="2000" spc="-4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4E5862"/>
                </a:solidFill>
                <a:latin typeface="Tahoma"/>
                <a:cs typeface="Tahoma"/>
              </a:rPr>
              <a:t>precision</a:t>
            </a:r>
            <a:endParaRPr sz="2000">
              <a:latin typeface="Tahoma"/>
              <a:cs typeface="Tahoma"/>
            </a:endParaRPr>
          </a:p>
          <a:p>
            <a:pPr marL="12700" marR="307975">
              <a:lnSpc>
                <a:spcPct val="131900"/>
              </a:lnSpc>
              <a:spcBef>
                <a:spcPts val="1160"/>
              </a:spcBef>
            </a:pPr>
            <a:r>
              <a:rPr sz="1800" spc="85" dirty="0">
                <a:solidFill>
                  <a:srgbClr val="4E5862"/>
                </a:solidFill>
                <a:latin typeface="Tahoma"/>
                <a:cs typeface="Tahoma"/>
              </a:rPr>
              <a:t>Balanced</a:t>
            </a:r>
            <a:r>
              <a:rPr sz="1800" spc="-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4E5862"/>
                </a:solidFill>
                <a:latin typeface="Tahoma"/>
                <a:cs typeface="Tahoma"/>
              </a:rPr>
              <a:t>Random</a:t>
            </a:r>
            <a:r>
              <a:rPr sz="1800" spc="-3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4E5862"/>
                </a:solidFill>
                <a:latin typeface="Tahoma"/>
                <a:cs typeface="Tahoma"/>
              </a:rPr>
              <a:t>Forest </a:t>
            </a:r>
            <a:r>
              <a:rPr sz="1800" spc="80" dirty="0">
                <a:solidFill>
                  <a:srgbClr val="4E5862"/>
                </a:solidFill>
                <a:latin typeface="Tahoma"/>
                <a:cs typeface="Tahoma"/>
              </a:rPr>
              <a:t>accuracy:</a:t>
            </a:r>
            <a:r>
              <a:rPr sz="1800" spc="3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5862"/>
                </a:solidFill>
                <a:latin typeface="Tahoma"/>
                <a:cs typeface="Tahoma"/>
              </a:rPr>
              <a:t>95.95%;</a:t>
            </a:r>
            <a:r>
              <a:rPr sz="1800" spc="3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4E5862"/>
                </a:solidFill>
                <a:latin typeface="Tahoma"/>
                <a:cs typeface="Tahoma"/>
              </a:rPr>
              <a:t>bankrupt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800" spc="60" dirty="0">
                <a:solidFill>
                  <a:srgbClr val="4E5862"/>
                </a:solidFill>
                <a:latin typeface="Tahoma"/>
                <a:cs typeface="Tahoma"/>
              </a:rPr>
              <a:t>precision:</a:t>
            </a:r>
            <a:r>
              <a:rPr sz="1800" spc="4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97E7B"/>
                </a:solidFill>
                <a:latin typeface="Tahoma"/>
                <a:cs typeface="Tahoma"/>
              </a:rPr>
              <a:t>89%</a:t>
            </a:r>
            <a:r>
              <a:rPr sz="1800" dirty="0">
                <a:solidFill>
                  <a:srgbClr val="4E5862"/>
                </a:solidFill>
                <a:latin typeface="Tahoma"/>
                <a:cs typeface="Tahoma"/>
              </a:rPr>
              <a:t>;</a:t>
            </a:r>
            <a:r>
              <a:rPr sz="1800" spc="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5862"/>
                </a:solidFill>
                <a:latin typeface="Tahoma"/>
                <a:cs typeface="Tahoma"/>
              </a:rPr>
              <a:t>recall:</a:t>
            </a:r>
            <a:r>
              <a:rPr sz="1800" spc="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97E7B"/>
                </a:solidFill>
                <a:latin typeface="Tahoma"/>
                <a:cs typeface="Tahoma"/>
              </a:rPr>
              <a:t>16%</a:t>
            </a:r>
            <a:r>
              <a:rPr sz="1800" spc="-60" dirty="0">
                <a:solidFill>
                  <a:srgbClr val="4E5862"/>
                </a:solidFill>
                <a:latin typeface="Tahoma"/>
                <a:cs typeface="Tahoma"/>
              </a:rPr>
              <a:t>;</a:t>
            </a:r>
            <a:r>
              <a:rPr sz="1800" spc="5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4E5862"/>
                </a:solidFill>
                <a:latin typeface="Tahoma"/>
                <a:cs typeface="Tahoma"/>
              </a:rPr>
              <a:t>F1: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800" spc="-20" dirty="0">
                <a:solidFill>
                  <a:srgbClr val="4E5862"/>
                </a:solidFill>
                <a:latin typeface="Tahoma"/>
                <a:cs typeface="Tahoma"/>
              </a:rPr>
              <a:t>27%.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571999" y="2090737"/>
          <a:ext cx="7009130" cy="1793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9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9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2290">
                <a:tc>
                  <a:txBody>
                    <a:bodyPr/>
                    <a:lstStyle/>
                    <a:p>
                      <a:pPr marL="24765">
                        <a:lnSpc>
                          <a:spcPts val="1405"/>
                        </a:lnSpc>
                      </a:pPr>
                      <a:r>
                        <a:rPr sz="1200" spc="75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EXPERIMENT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525">
                      <a:solidFill>
                        <a:srgbClr val="173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ts val="1405"/>
                        </a:lnSpc>
                      </a:pPr>
                      <a:r>
                        <a:rPr sz="1200" spc="11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ACCURACY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525">
                      <a:solidFill>
                        <a:srgbClr val="173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ts val="1405"/>
                        </a:lnSpc>
                      </a:pPr>
                      <a:r>
                        <a:rPr sz="1200" spc="9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BANKRUPT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00" spc="4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PRECISION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525">
                      <a:solidFill>
                        <a:srgbClr val="173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ts val="1405"/>
                        </a:lnSpc>
                      </a:pPr>
                      <a:r>
                        <a:rPr sz="1200" spc="9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BANKRUPT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24066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00" spc="8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RECALL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525">
                      <a:solidFill>
                        <a:srgbClr val="173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1405"/>
                        </a:lnSpc>
                      </a:pPr>
                      <a:r>
                        <a:rPr sz="1200" spc="9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BANKRUPT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1854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0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sz="1200" spc="-295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330" dirty="0">
                          <a:solidFill>
                            <a:srgbClr val="4E5862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9525">
                      <a:solidFill>
                        <a:srgbClr val="17324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55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Random</a:t>
                      </a:r>
                      <a:r>
                        <a:rPr sz="1500" spc="-4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Forest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17324A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10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95.86%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17324A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25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75%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17324A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-25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18%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17324A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spc="35" dirty="0">
                          <a:solidFill>
                            <a:srgbClr val="17324A"/>
                          </a:solidFill>
                          <a:latin typeface="Tahoma"/>
                          <a:cs typeface="Tahoma"/>
                        </a:rPr>
                        <a:t>29%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17324A"/>
                      </a:solidFill>
                      <a:prstDash val="solid"/>
                    </a:lnT>
                    <a:lnB w="9525">
                      <a:solidFill>
                        <a:srgbClr val="D8D5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970"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b="1" spc="-10" dirty="0">
                          <a:latin typeface="Tahoma"/>
                          <a:cs typeface="Tahoma"/>
                        </a:rPr>
                        <a:t>Balanced</a:t>
                      </a:r>
                      <a:endParaRPr sz="1500">
                        <a:latin typeface="Tahoma"/>
                        <a:cs typeface="Tahoma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b="1" spc="-50" dirty="0">
                          <a:latin typeface="Tahoma"/>
                          <a:cs typeface="Tahoma"/>
                        </a:rPr>
                        <a:t>Random</a:t>
                      </a:r>
                      <a:r>
                        <a:rPr sz="1500" b="1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500" b="1" spc="-10" dirty="0">
                          <a:latin typeface="Tahoma"/>
                          <a:cs typeface="Tahoma"/>
                        </a:rPr>
                        <a:t>Forest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solidFill>
                      <a:srgbClr val="E3F0EC"/>
                    </a:solidFill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b="1" spc="-10" dirty="0">
                          <a:latin typeface="Tahoma"/>
                          <a:cs typeface="Tahoma"/>
                        </a:rPr>
                        <a:t>95.95%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solidFill>
                      <a:srgbClr val="E3F0EC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89%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solidFill>
                      <a:srgbClr val="E3F0EC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16%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solidFill>
                      <a:srgbClr val="E3F0EC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27%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D8D5CD"/>
                      </a:solidFill>
                      <a:prstDash val="solid"/>
                    </a:lnT>
                    <a:solidFill>
                      <a:srgbClr val="E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559300" y="4105338"/>
            <a:ext cx="44665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67737C"/>
                </a:solidFill>
                <a:latin typeface="Tahoma"/>
                <a:cs typeface="Tahoma"/>
              </a:rPr>
              <a:t>Precision</a:t>
            </a:r>
            <a:r>
              <a:rPr sz="1400" spc="2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67737C"/>
                </a:solidFill>
                <a:latin typeface="Tahoma"/>
                <a:cs typeface="Tahoma"/>
              </a:rPr>
              <a:t>increased,</a:t>
            </a:r>
            <a:r>
              <a:rPr sz="1400" spc="2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7737C"/>
                </a:solidFill>
                <a:latin typeface="Tahoma"/>
                <a:cs typeface="Tahoma"/>
              </a:rPr>
              <a:t>but</a:t>
            </a:r>
            <a:r>
              <a:rPr sz="1400" spc="25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67737C"/>
                </a:solidFill>
                <a:latin typeface="Tahoma"/>
                <a:cs typeface="Tahoma"/>
              </a:rPr>
              <a:t>recall</a:t>
            </a:r>
            <a:r>
              <a:rPr sz="1400" spc="2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7737C"/>
                </a:solidFill>
                <a:latin typeface="Tahoma"/>
                <a:cs typeface="Tahoma"/>
              </a:rPr>
              <a:t>fell</a:t>
            </a:r>
            <a:r>
              <a:rPr sz="1400" spc="2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67737C"/>
                </a:solidFill>
                <a:latin typeface="Tahoma"/>
                <a:cs typeface="Tahoma"/>
              </a:rPr>
              <a:t>from</a:t>
            </a:r>
            <a:r>
              <a:rPr sz="1400" spc="25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7737C"/>
                </a:solidFill>
                <a:latin typeface="Tahoma"/>
                <a:cs typeface="Tahoma"/>
              </a:rPr>
              <a:t>18%</a:t>
            </a:r>
            <a:r>
              <a:rPr sz="1400" spc="2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7737C"/>
                </a:solidFill>
                <a:latin typeface="Tahoma"/>
                <a:cs typeface="Tahoma"/>
              </a:rPr>
              <a:t>to</a:t>
            </a:r>
            <a:r>
              <a:rPr sz="1400" spc="20" dirty="0">
                <a:solidFill>
                  <a:srgbClr val="67737C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67737C"/>
                </a:solidFill>
                <a:latin typeface="Tahoma"/>
                <a:cs typeface="Tahoma"/>
              </a:rPr>
              <a:t>16%.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9599" y="5591174"/>
            <a:ext cx="3505200" cy="9525"/>
          </a:xfrm>
          <a:custGeom>
            <a:avLst/>
            <a:gdLst/>
            <a:ahLst/>
            <a:cxnLst/>
            <a:rect l="l" t="t" r="r" b="b"/>
            <a:pathLst>
              <a:path w="3505200" h="9525">
                <a:moveTo>
                  <a:pt x="3501751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4762"/>
                </a:lnTo>
                <a:lnTo>
                  <a:pt x="0" y="3446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3501751" y="0"/>
                </a:lnTo>
                <a:lnTo>
                  <a:pt x="3502874" y="465"/>
                </a:lnTo>
                <a:lnTo>
                  <a:pt x="3504734" y="2324"/>
                </a:lnTo>
                <a:lnTo>
                  <a:pt x="3505199" y="3446"/>
                </a:lnTo>
                <a:lnTo>
                  <a:pt x="3505199" y="6077"/>
                </a:lnTo>
                <a:lnTo>
                  <a:pt x="3504734" y="7200"/>
                </a:lnTo>
                <a:lnTo>
                  <a:pt x="3502874" y="9059"/>
                </a:lnTo>
                <a:lnTo>
                  <a:pt x="3501751" y="9524"/>
                </a:lnTo>
                <a:close/>
              </a:path>
            </a:pathLst>
          </a:custGeom>
          <a:solidFill>
            <a:srgbClr val="D8D5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6899" y="6010338"/>
            <a:ext cx="34442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40" dirty="0">
                <a:solidFill>
                  <a:srgbClr val="4E5862"/>
                </a:solidFill>
                <a:latin typeface="Tahoma"/>
                <a:cs typeface="Tahoma"/>
              </a:rPr>
              <a:t>Recall</a:t>
            </a:r>
            <a:r>
              <a:rPr sz="2000" b="1" spc="-9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4E5862"/>
                </a:solidFill>
                <a:latin typeface="Tahoma"/>
                <a:cs typeface="Tahoma"/>
              </a:rPr>
              <a:t>fell</a:t>
            </a:r>
            <a:r>
              <a:rPr sz="2000" b="1" spc="-9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b="1" spc="-55" dirty="0">
                <a:solidFill>
                  <a:srgbClr val="4E5862"/>
                </a:solidFill>
                <a:latin typeface="Tahoma"/>
                <a:cs typeface="Tahoma"/>
              </a:rPr>
              <a:t>from</a:t>
            </a:r>
            <a:r>
              <a:rPr sz="2000" b="1" spc="-9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b="1" spc="-265" dirty="0">
                <a:solidFill>
                  <a:srgbClr val="4E5862"/>
                </a:solidFill>
                <a:latin typeface="Tahoma"/>
                <a:cs typeface="Tahoma"/>
              </a:rPr>
              <a:t>18%</a:t>
            </a:r>
            <a:r>
              <a:rPr sz="2000" b="1" spc="-95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b="1" spc="-75" dirty="0">
                <a:solidFill>
                  <a:srgbClr val="4E5862"/>
                </a:solidFill>
                <a:latin typeface="Tahoma"/>
                <a:cs typeface="Tahoma"/>
              </a:rPr>
              <a:t>to</a:t>
            </a:r>
            <a:r>
              <a:rPr sz="2000" b="1" spc="-90" dirty="0">
                <a:solidFill>
                  <a:srgbClr val="4E5862"/>
                </a:solidFill>
                <a:latin typeface="Tahoma"/>
                <a:cs typeface="Tahoma"/>
              </a:rPr>
              <a:t> </a:t>
            </a:r>
            <a:r>
              <a:rPr sz="2000" b="1" spc="-140" dirty="0">
                <a:solidFill>
                  <a:srgbClr val="297E7B"/>
                </a:solidFill>
                <a:latin typeface="Tahoma"/>
                <a:cs typeface="Tahoma"/>
              </a:rPr>
              <a:t>16%</a:t>
            </a:r>
            <a:r>
              <a:rPr sz="2000" b="1" spc="-140" dirty="0">
                <a:solidFill>
                  <a:srgbClr val="4E5862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71311" y="6452851"/>
            <a:ext cx="198755" cy="19494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spc="-245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1</a:t>
            </a:r>
            <a:r>
              <a:rPr sz="1100" spc="-19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 </a:t>
            </a:r>
            <a:r>
              <a:rPr sz="1100" spc="-50" dirty="0">
                <a:solidFill>
                  <a:srgbClr val="17324A"/>
                </a:solidFill>
                <a:latin typeface="Verdana"/>
                <a:cs typeface="Verdana"/>
                <a:hlinkClick r:id="rId2"/>
              </a:rPr>
              <a:t>0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7324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611</Words>
  <Application>Microsoft Office PowerPoint</Application>
  <PresentationFormat>Widescreen</PresentationFormat>
  <Paragraphs>189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Tahoma</vt:lpstr>
      <vt:lpstr>Times New Roman</vt:lpstr>
      <vt:lpstr>Verdana</vt:lpstr>
      <vt:lpstr>Office Theme</vt:lpstr>
      <vt:lpstr>PowerPoint Presentation</vt:lpstr>
      <vt:lpstr>Bankruptcy prediction is a high-stakes classification problem</vt:lpstr>
      <vt:lpstr>The dataset is large, financial, and sharply imbalanced</vt:lpstr>
      <vt:lpstr>Preprocessing keeps the comparison consistent</vt:lpstr>
      <vt:lpstr>One pipeline supports fair model comparison</vt:lpstr>
      <vt:lpstr>Six reference models + one extension</vt:lpstr>
      <vt:lpstr>Accuracy is useful, but it cannot carry the story alone</vt:lpstr>
      <vt:lpstr>Random Forest was the strongest extension</vt:lpstr>
      <vt:lpstr>PowerPoint Presentation</vt:lpstr>
      <vt:lpstr>Random Forest was the strongest overall extension</vt:lpstr>
      <vt:lpstr>Balancing the forest improved precision, but not recall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Amoghaa R</cp:lastModifiedBy>
  <cp:revision>4</cp:revision>
  <dcterms:created xsi:type="dcterms:W3CDTF">2026-10-03T11:51:23Z</dcterms:created>
  <dcterms:modified xsi:type="dcterms:W3CDTF">2026-10-15T04:26:40Z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2026-10-03T00:00:00Z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2026-10-03T00:00:00Z</vt:filetime>
  </property>
  <property fmtid="{D5CDD505-2E9C-101B-9397-08002B2CF9AE}" pid="6" name="Producer">
    <vt:lpwstr>pdf-lib (https://github.com/Hopding/pdf-lib)</vt:lpwstr>
  </property>
</Properties>
</file>